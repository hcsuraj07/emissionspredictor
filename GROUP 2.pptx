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wdp" ContentType="image/vnd.ms-photo"/>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47"/>
  </p:notesMasterIdLst>
  <p:sldIdLst>
    <p:sldId id="256" r:id="rId5"/>
    <p:sldId id="257" r:id="rId6"/>
    <p:sldId id="258" r:id="rId7"/>
    <p:sldId id="288" r:id="rId8"/>
    <p:sldId id="259" r:id="rId9"/>
    <p:sldId id="260" r:id="rId10"/>
    <p:sldId id="263" r:id="rId11"/>
    <p:sldId id="289" r:id="rId12"/>
    <p:sldId id="290" r:id="rId13"/>
    <p:sldId id="291" r:id="rId14"/>
    <p:sldId id="261" r:id="rId15"/>
    <p:sldId id="292" r:id="rId16"/>
    <p:sldId id="293" r:id="rId17"/>
    <p:sldId id="264" r:id="rId18"/>
    <p:sldId id="262" r:id="rId19"/>
    <p:sldId id="265" r:id="rId20"/>
    <p:sldId id="266" r:id="rId21"/>
    <p:sldId id="294" r:id="rId22"/>
    <p:sldId id="295" r:id="rId23"/>
    <p:sldId id="267" r:id="rId24"/>
    <p:sldId id="268" r:id="rId25"/>
    <p:sldId id="269" r:id="rId26"/>
    <p:sldId id="271" r:id="rId27"/>
    <p:sldId id="272" r:id="rId28"/>
    <p:sldId id="270" r:id="rId29"/>
    <p:sldId id="296" r:id="rId30"/>
    <p:sldId id="297" r:id="rId31"/>
    <p:sldId id="278" r:id="rId32"/>
    <p:sldId id="279" r:id="rId33"/>
    <p:sldId id="280" r:id="rId34"/>
    <p:sldId id="281" r:id="rId35"/>
    <p:sldId id="282" r:id="rId36"/>
    <p:sldId id="283" r:id="rId37"/>
    <p:sldId id="284" r:id="rId38"/>
    <p:sldId id="285" r:id="rId39"/>
    <p:sldId id="286" r:id="rId40"/>
    <p:sldId id="287" r:id="rId41"/>
    <p:sldId id="298" r:id="rId42"/>
    <p:sldId id="299" r:id="rId43"/>
    <p:sldId id="300" r:id="rId44"/>
    <p:sldId id="301" r:id="rId45"/>
    <p:sldId id="302"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51"/>
    <p:restoredTop sz="96121"/>
  </p:normalViewPr>
  <p:slideViewPr>
    <p:cSldViewPr snapToGrid="0">
      <p:cViewPr varScale="1">
        <p:scale>
          <a:sx n="98" d="100"/>
          <a:sy n="98" d="100"/>
        </p:scale>
        <p:origin x="-672" y="-90"/>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4" name="Google Shape;14;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1" name="Google Shape;21;p4"/>
          <p:cNvSpPr txBox="1">
            <a:spLocks noGrp="1"/>
          </p:cNvSpPr>
          <p:nvPr>
            <p:ph type="body" idx="1"/>
          </p:nvPr>
        </p:nvSpPr>
        <p:spPr>
          <a:xfrm>
            <a:off x="311700" y="1222450"/>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a:t>Click to edit Master text styles</a:t>
            </a: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a:t>Click to edit Master text styles</a:t>
            </a: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a:t>Click to edit Master text styles</a:t>
            </a: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a:t>Click to edit Master text styles</a:t>
            </a: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41" name="Google Shape;4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42" name="Google Shape;4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a:t>Click to edit Master text styles</a:t>
            </a: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6" name="Google Shape;4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 name="Google Shape;49;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lvl="0"/>
            <a:r>
              <a:rPr lang="en-US"/>
              <a:t>Click to edit Master text styles</a:t>
            </a:r>
          </a:p>
        </p:txBody>
      </p:sp>
      <p:sp>
        <p:nvSpPr>
          <p:cNvPr id="50" name="Google Shape;5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11">
            <a:alphaModFix/>
          </a:blip>
          <a:stretch>
            <a:fillRect/>
          </a:stretch>
        </p:blipFill>
        <p:spPr>
          <a:xfrm>
            <a:off x="8159445" y="4144200"/>
            <a:ext cx="984551" cy="999300"/>
          </a:xfrm>
          <a:prstGeom prst="rect">
            <a:avLst/>
          </a:prstGeom>
          <a:noFill/>
          <a:ln>
            <a:noFill/>
          </a:ln>
        </p:spPr>
      </p:pic>
      <p:sp>
        <p:nvSpPr>
          <p:cNvPr id="7" name="Google Shape;7;p1"/>
          <p:cNvSpPr txBox="1">
            <a:spLocks noGrp="1"/>
          </p:cNvSpPr>
          <p:nvPr>
            <p:ph type="title"/>
          </p:nvPr>
        </p:nvSpPr>
        <p:spPr>
          <a:xfrm>
            <a:off x="311700" y="649750"/>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 name="Google Shape;8;p1"/>
          <p:cNvSpPr txBox="1">
            <a:spLocks noGrp="1"/>
          </p:cNvSpPr>
          <p:nvPr>
            <p:ph type="body" idx="1"/>
          </p:nvPr>
        </p:nvSpPr>
        <p:spPr>
          <a:xfrm>
            <a:off x="311700" y="122245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9" name="Google Shape;9;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0" name="Google Shape;10;p1"/>
          <p:cNvPicPr preferRelativeResize="0"/>
          <p:nvPr/>
        </p:nvPicPr>
        <p:blipFill>
          <a:blip r:embed="rId12">
            <a:alphaModFix/>
          </a:blip>
          <a:stretch>
            <a:fillRect/>
          </a:stretch>
        </p:blipFill>
        <p:spPr>
          <a:xfrm>
            <a:off x="0" y="0"/>
            <a:ext cx="9144000" cy="571500"/>
          </a:xfrm>
          <a:prstGeom prst="rect">
            <a:avLst/>
          </a:prstGeom>
          <a:noFill/>
          <a:ln>
            <a:noFill/>
          </a:ln>
        </p:spPr>
      </p:pic>
      <p:pic>
        <p:nvPicPr>
          <p:cNvPr id="11" name="Google Shape;11;p1"/>
          <p:cNvPicPr preferRelativeResize="0"/>
          <p:nvPr/>
        </p:nvPicPr>
        <p:blipFill>
          <a:blip r:embed="rId13">
            <a:alphaModFix/>
          </a:blip>
          <a:stretch>
            <a:fillRect/>
          </a:stretch>
        </p:blipFill>
        <p:spPr>
          <a:xfrm>
            <a:off x="388600" y="65336"/>
            <a:ext cx="1913424" cy="4408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11" name="Picture 10" descr="Person working on a table">
            <a:extLst>
              <a:ext uri="{FF2B5EF4-FFF2-40B4-BE49-F238E27FC236}">
                <a16:creationId xmlns="" xmlns:a16="http://schemas.microsoft.com/office/drawing/2014/main" id="{86E38935-A6B8-8646-E6DD-FF77BAD00811}"/>
              </a:ext>
            </a:extLst>
          </p:cNvPr>
          <p:cNvPicPr>
            <a:picLocks noChangeAspect="1"/>
          </p:cNvPicPr>
          <p:nvPr/>
        </p:nvPicPr>
        <p:blipFill>
          <a:blip r:embed="rId3">
            <a:extLst>
              <a:ext uri="{BEBA8EAE-BF5A-486C-A8C5-ECC9F3942E4B}">
                <a14:imgProps xmlns="" xmlns:a14="http://schemas.microsoft.com/office/drawing/2010/main">
                  <a14:imgLayer r:embed="rId4">
                    <a14:imgEffect>
                      <a14:sharpenSoften amount="-43000"/>
                    </a14:imgEffect>
                    <a14:imgEffect>
                      <a14:brightnessContrast bright="6000" contrast="-33000"/>
                    </a14:imgEffect>
                  </a14:imgLayer>
                </a14:imgProps>
              </a:ext>
            </a:extLst>
          </a:blip>
          <a:stretch>
            <a:fillRect/>
          </a:stretch>
        </p:blipFill>
        <p:spPr>
          <a:xfrm>
            <a:off x="0" y="576470"/>
            <a:ext cx="9144000" cy="4567029"/>
          </a:xfrm>
          <a:prstGeom prst="rect">
            <a:avLst/>
          </a:prstGeom>
        </p:spPr>
      </p:pic>
      <p:sp>
        <p:nvSpPr>
          <p:cNvPr id="2" name="Title 1">
            <a:extLst>
              <a:ext uri="{FF2B5EF4-FFF2-40B4-BE49-F238E27FC236}">
                <a16:creationId xmlns="" xmlns:a16="http://schemas.microsoft.com/office/drawing/2014/main" id="{59606253-D856-FC8C-48A1-40D801A64A79}"/>
              </a:ext>
            </a:extLst>
          </p:cNvPr>
          <p:cNvSpPr>
            <a:spLocks noGrp="1"/>
          </p:cNvSpPr>
          <p:nvPr>
            <p:ph type="ctrTitle"/>
          </p:nvPr>
        </p:nvSpPr>
        <p:spPr>
          <a:xfrm>
            <a:off x="421032" y="1926010"/>
            <a:ext cx="8576917" cy="954107"/>
          </a:xfrm>
        </p:spPr>
        <p:txBody>
          <a:bodyPr vert="horz" lIns="0" tIns="0" rIns="0" bIns="0" rtlCol="0" anchor="b" anchorCtr="0">
            <a:normAutofit/>
          </a:bodyPr>
          <a:lstStyle/>
          <a:p>
            <a:pPr>
              <a:lnSpc>
                <a:spcPct val="90000"/>
              </a:lnSpc>
            </a:pPr>
            <a:r>
              <a:rPr lang="en-US" sz="3200" b="1" dirty="0">
                <a:solidFill>
                  <a:schemeClr val="tx1"/>
                </a:solidFill>
                <a:latin typeface="Times New Roman" panose="02020603050405020304" pitchFamily="18" charset="0"/>
                <a:cs typeface="Times New Roman" panose="02020603050405020304" pitchFamily="18" charset="0"/>
              </a:rPr>
              <a:t>Predicting CO2 Emissions of Vehicles Using Real-Time Telematics Data</a:t>
            </a:r>
          </a:p>
        </p:txBody>
      </p:sp>
      <p:sp>
        <p:nvSpPr>
          <p:cNvPr id="8" name="Subtitle 7">
            <a:extLst>
              <a:ext uri="{FF2B5EF4-FFF2-40B4-BE49-F238E27FC236}">
                <a16:creationId xmlns="" xmlns:a16="http://schemas.microsoft.com/office/drawing/2014/main" id="{C9D3B131-EFC8-D114-A3D2-05EFFC78F0FC}"/>
              </a:ext>
            </a:extLst>
          </p:cNvPr>
          <p:cNvSpPr>
            <a:spLocks noGrp="1"/>
          </p:cNvSpPr>
          <p:nvPr>
            <p:ph type="subTitle" idx="1"/>
          </p:nvPr>
        </p:nvSpPr>
        <p:spPr>
          <a:xfrm>
            <a:off x="2751511" y="3169967"/>
            <a:ext cx="8520600" cy="2433060"/>
          </a:xfrm>
        </p:spPr>
        <p:txBody>
          <a:bodyPr/>
          <a:lstStyle/>
          <a:p>
            <a:pPr algn="l">
              <a:lnSpc>
                <a:spcPct val="90000"/>
              </a:lnSpc>
            </a:pPr>
            <a:r>
              <a:rPr lang="en-US" sz="16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2000" b="1" dirty="0">
                <a:solidFill>
                  <a:schemeClr val="tx1">
                    <a:lumMod val="75000"/>
                    <a:lumOff val="25000"/>
                  </a:schemeClr>
                </a:solidFill>
                <a:latin typeface="Times New Roman" panose="02020603050405020304" pitchFamily="18" charset="0"/>
                <a:cs typeface="Times New Roman" panose="02020603050405020304" pitchFamily="18" charset="0"/>
              </a:rPr>
              <a:t>Presented By:</a:t>
            </a:r>
          </a:p>
          <a:p>
            <a:pPr algn="l">
              <a:lnSpc>
                <a:spcPct val="90000"/>
              </a:lnSpc>
            </a:pPr>
            <a:endParaRPr 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indent="-228600" algn="l">
              <a:lnSpc>
                <a:spcPct val="90000"/>
              </a:lnSpc>
              <a:buFont typeface="Arial" panose="020B0604020202020204" pitchFamily="34" charset="0"/>
              <a:buChar char="•"/>
            </a:pP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Akhilesh </a:t>
            </a: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Akoju</a:t>
            </a:r>
            <a:endParaRPr lang="en-US" sz="1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indent="-228600" algn="l">
              <a:lnSpc>
                <a:spcPct val="90000"/>
              </a:lnSpc>
              <a:buFont typeface="Arial" panose="020B0604020202020204" pitchFamily="34" charset="0"/>
              <a:buChar char="•"/>
            </a:pP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Kianoush</a:t>
            </a: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Ramezani</a:t>
            </a: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Shabolaghi</a:t>
            </a:r>
            <a:endParaRPr lang="en-US" sz="1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indent="-228600" algn="l">
              <a:lnSpc>
                <a:spcPct val="90000"/>
              </a:lnSpc>
              <a:buFont typeface="Arial" panose="020B0604020202020204" pitchFamily="34" charset="0"/>
              <a:buChar char="•"/>
            </a:pP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Lokesh Reddy Kuppireddy</a:t>
            </a:r>
          </a:p>
          <a:p>
            <a:pPr indent="-228600" algn="l">
              <a:lnSpc>
                <a:spcPct val="90000"/>
              </a:lnSpc>
              <a:buFont typeface="Arial" panose="020B0604020202020204" pitchFamily="34" charset="0"/>
              <a:buChar char="•"/>
            </a:pP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Sai Akhil </a:t>
            </a: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Sadula</a:t>
            </a:r>
            <a:endParaRPr lang="en-US" sz="1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indent="-228600" algn="l">
              <a:lnSpc>
                <a:spcPct val="90000"/>
              </a:lnSpc>
              <a:buFont typeface="Arial" panose="020B0604020202020204" pitchFamily="34" charset="0"/>
              <a:buChar char="•"/>
            </a:pP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Suraj </a:t>
            </a:r>
            <a:r>
              <a:rPr lang="en-US" sz="1800" b="1" dirty="0" err="1">
                <a:solidFill>
                  <a:schemeClr val="tx1">
                    <a:lumMod val="75000"/>
                    <a:lumOff val="25000"/>
                  </a:schemeClr>
                </a:solidFill>
                <a:latin typeface="Times New Roman" panose="02020603050405020304" pitchFamily="18" charset="0"/>
                <a:cs typeface="Times New Roman" panose="02020603050405020304" pitchFamily="18" charset="0"/>
              </a:rPr>
              <a:t>Hanumanthapura</a:t>
            </a:r>
            <a:r>
              <a:rPr lang="en-US" sz="1800" b="1" dirty="0">
                <a:solidFill>
                  <a:schemeClr val="tx1">
                    <a:lumMod val="75000"/>
                    <a:lumOff val="25000"/>
                  </a:schemeClr>
                </a:solidFill>
                <a:latin typeface="Times New Roman" panose="02020603050405020304" pitchFamily="18" charset="0"/>
                <a:cs typeface="Times New Roman" panose="02020603050405020304" pitchFamily="18" charset="0"/>
              </a:rPr>
              <a:t> Chandra</a:t>
            </a:r>
          </a:p>
          <a:p>
            <a:pPr marL="228600" indent="0" algn="l">
              <a:lnSpc>
                <a:spcPct val="90000"/>
              </a:lnSpc>
            </a:pPr>
            <a:endParaRPr lang="en-US" sz="1600" b="1" dirty="0">
              <a:solidFill>
                <a:schemeClr val="tx1"/>
              </a:solidFill>
              <a:latin typeface="Times New Roman" panose="02020603050405020304" pitchFamily="18" charset="0"/>
              <a:cs typeface="Times New Roman" panose="02020603050405020304" pitchFamily="18" charset="0"/>
            </a:endParaRPr>
          </a:p>
          <a:p>
            <a:pPr marL="228600" indent="0" algn="l">
              <a:lnSpc>
                <a:spcPct val="90000"/>
              </a:lnSpc>
            </a:pPr>
            <a:endParaRPr lang="en-US" sz="1800" b="1"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2BFDA953-FA5D-1C94-62E3-110DA67DADA9}"/>
              </a:ext>
            </a:extLst>
          </p:cNvPr>
          <p:cNvSpPr txBox="1"/>
          <p:nvPr/>
        </p:nvSpPr>
        <p:spPr>
          <a:xfrm>
            <a:off x="1183470" y="757003"/>
            <a:ext cx="6777059" cy="954107"/>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Data 602 Project Presentation-GROUP 2</a:t>
            </a:r>
          </a:p>
          <a:p>
            <a:pPr algn="ctr"/>
            <a:r>
              <a:rPr lang="en-US" sz="2800" b="1" dirty="0">
                <a:solidFill>
                  <a:schemeClr val="tx1"/>
                </a:solidFill>
                <a:latin typeface="Times New Roman" panose="02020603050405020304" pitchFamily="18" charset="0"/>
                <a:cs typeface="Times New Roman" panose="02020603050405020304" pitchFamily="18" charset="0"/>
              </a:rPr>
              <a:t>Professor : Masoud Soroush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897C62-38A8-7D4A-AE5A-BBC83FB1117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 xmlns:a16="http://schemas.microsoft.com/office/drawing/2014/main" id="{07D2A022-0265-3BD9-AD78-AE12E1D8AF71}"/>
              </a:ext>
            </a:extLst>
          </p:cNvPr>
          <p:cNvSpPr>
            <a:spLocks noGrp="1"/>
          </p:cNvSpPr>
          <p:nvPr>
            <p:ph type="body" idx="1"/>
          </p:nvPr>
        </p:nvSpPr>
        <p:spPr/>
        <p:txBody>
          <a:bodyPr/>
          <a:lstStyle/>
          <a:p>
            <a:r>
              <a:rPr lang="en-US" dirty="0">
                <a:solidFill>
                  <a:srgbClr val="000000"/>
                </a:solidFill>
                <a:latin typeface="Helvetica Neue" panose="02000503000000020004" pitchFamily="2" charset="0"/>
              </a:rPr>
              <a:t>The primary aim is to analyze and predict CO2 emissions from various vehicles using the 'Car Fuel &amp; Emissions 2000-2013' dataset.</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Leveraging vehicle data to predict CO2 emissions, aiming to contribute to the development of greener transportation options.</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Explore patterns and relationships to understand the factors influencing vehicle emissions, contributing to better environmental management.</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Apply  machine learning techniques to forecast emissions, aiming to enhance environmental planning.</a:t>
            </a:r>
          </a:p>
          <a:p>
            <a:pPr marL="114300" indent="0">
              <a:buNone/>
            </a:pPr>
            <a:endParaRPr lang="en-US" dirty="0"/>
          </a:p>
        </p:txBody>
      </p:sp>
    </p:spTree>
    <p:extLst>
      <p:ext uri="{BB962C8B-B14F-4D97-AF65-F5344CB8AC3E}">
        <p14:creationId xmlns="" xmlns:p14="http://schemas.microsoft.com/office/powerpoint/2010/main" val="3242926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80041F-CCBC-2486-5E9E-548E60093E0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 xmlns:a16="http://schemas.microsoft.com/office/drawing/2014/main" id="{387744BF-6632-11A3-4657-F19431535C17}"/>
              </a:ext>
            </a:extLst>
          </p:cNvPr>
          <p:cNvSpPr>
            <a:spLocks noGrp="1"/>
          </p:cNvSpPr>
          <p:nvPr>
            <p:ph type="body" idx="1"/>
          </p:nvPr>
        </p:nvSpPr>
        <p:spPr>
          <a:xfrm>
            <a:off x="311700" y="1372352"/>
            <a:ext cx="8520600" cy="3416400"/>
          </a:xfrm>
        </p:spPr>
        <p:txBody>
          <a:bodyPr/>
          <a:lstStyle/>
          <a:p>
            <a:r>
              <a:rPr lang="en-US" dirty="0">
                <a:solidFill>
                  <a:srgbClr val="000000"/>
                </a:solidFill>
                <a:latin typeface="Helvetica Neue" panose="02000503000000020004" pitchFamily="2" charset="0"/>
              </a:rPr>
              <a:t>Develop machine learning model that accurately predicts CO2 emissions based on vehicle data.</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Identify key factors that significantly influence vehicle emissions.</a:t>
            </a:r>
          </a:p>
          <a:p>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Determine how engine capacity, transmission type, and fuel type correlate with a vehicle's fuel efficiency.</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Quantify the influence of transmission type on fuel efficiency through predictive modeling.</a:t>
            </a:r>
          </a:p>
          <a:p>
            <a:pPr marL="114300" indent="0">
              <a:buNone/>
            </a:pPr>
            <a:endParaRPr lang="en-US" dirty="0">
              <a:solidFill>
                <a:schemeClr val="tx1"/>
              </a:solidFill>
            </a:endParaRPr>
          </a:p>
        </p:txBody>
      </p:sp>
    </p:spTree>
    <p:extLst>
      <p:ext uri="{BB962C8B-B14F-4D97-AF65-F5344CB8AC3E}">
        <p14:creationId xmlns="" xmlns:p14="http://schemas.microsoft.com/office/powerpoint/2010/main" val="53493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80041F-CCBC-2486-5E9E-548E60093E0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 xmlns:a16="http://schemas.microsoft.com/office/drawing/2014/main" id="{387744BF-6632-11A3-4657-F19431535C17}"/>
              </a:ext>
            </a:extLst>
          </p:cNvPr>
          <p:cNvSpPr>
            <a:spLocks noGrp="1"/>
          </p:cNvSpPr>
          <p:nvPr>
            <p:ph type="body" idx="1"/>
          </p:nvPr>
        </p:nvSpPr>
        <p:spPr>
          <a:xfrm>
            <a:off x="311700" y="1372352"/>
            <a:ext cx="8520600" cy="3416400"/>
          </a:xfrm>
        </p:spPr>
        <p:txBody>
          <a:bodyPr/>
          <a:lstStyle/>
          <a:p>
            <a:r>
              <a:rPr lang="en-US" dirty="0">
                <a:solidFill>
                  <a:srgbClr val="000000"/>
                </a:solidFill>
                <a:latin typeface="Helvetica Neue" panose="02000503000000020004" pitchFamily="2" charset="0"/>
              </a:rPr>
              <a:t>Develop a predictive model for vehicle noise levels based on engine capacity, fuel type, and transmission type.</a:t>
            </a:r>
          </a:p>
          <a:p>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Exploring the relationship between engine capacity and CO emissions and establish a predictive model for the same.</a:t>
            </a:r>
          </a:p>
          <a:p>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Determine how engine capacity, transmission type, and fuel type correlate with a vehicle's fuel efficiency.</a:t>
            </a:r>
          </a:p>
          <a:p>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Analyzing if certain manufacturers and models have better emission standards.</a:t>
            </a:r>
          </a:p>
        </p:txBody>
      </p:sp>
    </p:spTree>
    <p:extLst>
      <p:ext uri="{BB962C8B-B14F-4D97-AF65-F5344CB8AC3E}">
        <p14:creationId xmlns="" xmlns:p14="http://schemas.microsoft.com/office/powerpoint/2010/main" val="305709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E8CCF3-706A-D114-DFC5-0BAADFD72BF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Dataset Overview</a:t>
            </a:r>
          </a:p>
        </p:txBody>
      </p:sp>
      <p:sp>
        <p:nvSpPr>
          <p:cNvPr id="3" name="Text Placeholder 2">
            <a:extLst>
              <a:ext uri="{FF2B5EF4-FFF2-40B4-BE49-F238E27FC236}">
                <a16:creationId xmlns="" xmlns:a16="http://schemas.microsoft.com/office/drawing/2014/main" id="{FD0F0284-B5DF-1F06-2FBC-A108721D8D21}"/>
              </a:ext>
            </a:extLst>
          </p:cNvPr>
          <p:cNvSpPr>
            <a:spLocks noGrp="1"/>
          </p:cNvSpPr>
          <p:nvPr>
            <p:ph type="body" idx="1"/>
          </p:nvPr>
        </p:nvSpPr>
        <p:spPr>
          <a:xfrm>
            <a:off x="311700" y="1238192"/>
            <a:ext cx="8520600" cy="3716809"/>
          </a:xfrm>
        </p:spPr>
        <p:txBody>
          <a:bodyPr/>
          <a:lstStyle/>
          <a:p>
            <a:pPr marL="114300" indent="0" algn="l">
              <a:buNone/>
            </a:pPr>
            <a:r>
              <a:rPr lang="en-US" b="0" i="0" u="none" strike="noStrike" dirty="0">
                <a:solidFill>
                  <a:srgbClr val="000000"/>
                </a:solidFill>
                <a:effectLst/>
                <a:latin typeface="Helvetica Neue" panose="02000503000000020004" pitchFamily="2" charset="0"/>
              </a:rPr>
              <a:t>Data source: </a:t>
            </a:r>
          </a:p>
          <a:p>
            <a:pPr marL="114300" indent="0" algn="l">
              <a:buNone/>
            </a:pPr>
            <a:r>
              <a:rPr lang="en-US" u="sng" dirty="0">
                <a:solidFill>
                  <a:srgbClr val="296EAA"/>
                </a:solidFill>
                <a:latin typeface="Helvetica Neue" panose="02000503000000020004" pitchFamily="2" charset="0"/>
              </a:rPr>
              <a:t>https://data.world/amercader/car-fuel-emissions-2000-2013</a:t>
            </a:r>
          </a:p>
          <a:p>
            <a:r>
              <a:rPr lang="en-US" dirty="0">
                <a:solidFill>
                  <a:srgbClr val="000000"/>
                </a:solidFill>
                <a:latin typeface="Helvetica Neue" panose="02000503000000020004" pitchFamily="2" charset="0"/>
              </a:rPr>
              <a:t>The dataset encompasses diverse vehicle specifications, including emissions (CO2, NOx, CO) and noise levels, linked to engine size, fuel type, and compliance standards.</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Serves as a foundation for developing machine learning models to predict emissions and fuel efficiency, vital for sustainable environmental strategies. </a:t>
            </a:r>
          </a:p>
          <a:p>
            <a:pPr marL="114300" indent="0">
              <a:buNone/>
            </a:pPr>
            <a:endParaRPr lang="en-US" dirty="0">
              <a:solidFill>
                <a:srgbClr val="000000"/>
              </a:solidFill>
              <a:latin typeface="Helvetica Neue" panose="02000503000000020004" pitchFamily="2" charset="0"/>
            </a:endParaRPr>
          </a:p>
          <a:p>
            <a:r>
              <a:rPr lang="en-US" dirty="0">
                <a:solidFill>
                  <a:srgbClr val="000000"/>
                </a:solidFill>
                <a:latin typeface="Helvetica Neue" panose="02000503000000020004" pitchFamily="2" charset="0"/>
              </a:rPr>
              <a:t>Assists in understanding how different vehicle specifications align with emission standards, offering data-driven support for policymaking.</a:t>
            </a:r>
          </a:p>
        </p:txBody>
      </p:sp>
    </p:spTree>
    <p:extLst>
      <p:ext uri="{BB962C8B-B14F-4D97-AF65-F5344CB8AC3E}">
        <p14:creationId xmlns="" xmlns:p14="http://schemas.microsoft.com/office/powerpoint/2010/main" val="110878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B1E6FD-FC50-0FDF-23C7-BB5DA724D8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Columns Description</a:t>
            </a:r>
          </a:p>
        </p:txBody>
      </p:sp>
      <p:sp>
        <p:nvSpPr>
          <p:cNvPr id="3" name="Text Placeholder 2">
            <a:extLst>
              <a:ext uri="{FF2B5EF4-FFF2-40B4-BE49-F238E27FC236}">
                <a16:creationId xmlns="" xmlns:a16="http://schemas.microsoft.com/office/drawing/2014/main" id="{21A0FD2E-049C-ED91-7679-6C8F645AD3F6}"/>
              </a:ext>
            </a:extLst>
          </p:cNvPr>
          <p:cNvSpPr>
            <a:spLocks noGrp="1"/>
          </p:cNvSpPr>
          <p:nvPr>
            <p:ph type="body" idx="1"/>
          </p:nvPr>
        </p:nvSpPr>
        <p:spPr>
          <a:xfrm>
            <a:off x="311700" y="1275667"/>
            <a:ext cx="8520600" cy="3731047"/>
          </a:xfrm>
        </p:spPr>
        <p:txBody>
          <a:bodyPr/>
          <a:lstStyle/>
          <a:p>
            <a:r>
              <a:rPr lang="en-US" sz="1200" dirty="0" smtClean="0">
                <a:solidFill>
                  <a:schemeClr val="tx1"/>
                </a:solidFill>
              </a:rPr>
              <a:t>file</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Indicates the data file from which the record is sourced.</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smtClean="0">
                <a:solidFill>
                  <a:schemeClr val="tx1"/>
                </a:solidFill>
              </a:rPr>
              <a:t>year</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year in which the vehicle model was manufactured or released</a:t>
            </a:r>
            <a:r>
              <a:rPr lang="en-US" sz="1200" dirty="0" smtClean="0">
                <a:solidFill>
                  <a:schemeClr val="tx1"/>
                </a:solidFill>
                <a:latin typeface="Times New Roman" panose="02020603050405020304" pitchFamily="18" charset="0"/>
                <a:cs typeface="Times New Roman" panose="02020603050405020304" pitchFamily="18" charset="0"/>
              </a:rPr>
              <a:t> .</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smtClean="0">
                <a:solidFill>
                  <a:schemeClr val="tx1"/>
                </a:solidFill>
              </a:rPr>
              <a:t>manufacturer</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brand or company that produced the vehicle</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smtClean="0">
                <a:solidFill>
                  <a:schemeClr val="tx1"/>
                </a:solidFill>
              </a:rPr>
              <a:t>model</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specific name or designation given to a vehicle by the manufacturer</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smtClean="0">
                <a:solidFill>
                  <a:schemeClr val="tx1"/>
                </a:solidFill>
              </a:rPr>
              <a:t>description</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Provides additional details about the vehicle, which may include specific features, engine size, or special edition names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euro_standard</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European emission standards compliance level of the vehicle</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tax_band</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A classification used to determine the vehicle tax rate, often based on CO2 emissions levels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smtClean="0">
                <a:solidFill>
                  <a:schemeClr val="tx1"/>
                </a:solidFill>
              </a:rPr>
              <a:t>transmission</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Specifies the type of gearbox in the vehicle, such as manual or automatic, along with the number of gears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768995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40E2ED4F-BFFA-1052-E000-62528D8F8D78}"/>
              </a:ext>
            </a:extLst>
          </p:cNvPr>
          <p:cNvSpPr>
            <a:spLocks noGrp="1"/>
          </p:cNvSpPr>
          <p:nvPr>
            <p:ph type="body" idx="1"/>
          </p:nvPr>
        </p:nvSpPr>
        <p:spPr>
          <a:xfrm>
            <a:off x="168965" y="524656"/>
            <a:ext cx="8528424" cy="4454848"/>
          </a:xfrm>
        </p:spPr>
        <p:txBody>
          <a:bodyPr/>
          <a:lstStyle/>
          <a:p>
            <a:pPr marL="114300" indent="0">
              <a:buNone/>
            </a:pPr>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transmission_type</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Categorizes the transmission into broader types, such as manual, automatic, or semi-automatic</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engine_capacity</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volume of the engine's cylinders, usually measured in cubic centimeters (cc) or liters, which is indicative of engine size</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fuel_type</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type of fuel the vehicle uses, such as petrol, diesel, electric, or hybrid</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urban_metric</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Fuel efficiency in urban environments with frequent stops and starts, measured in liters per 100 kilometers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extra_urban_metric</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Fuel efficiency under steady-speed conditions, such as highways, measured in liters per 100 kilometers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combined_metric</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An average of urban and extra-urban fuel efficiency, providing a general measure of fuel consumption in liters per 100 kilometers</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urban_imperial</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Fuel efficiency in urban environments, measured in miles per gallon, using the imperial system</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r>
              <a:rPr lang="en-US" sz="1200" dirty="0" err="1" smtClean="0">
                <a:solidFill>
                  <a:schemeClr val="tx1"/>
                </a:solidFill>
              </a:rPr>
              <a:t>extra_urban_imperial</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Highway fuel efficiency, measured in miles per gallon in the imperial system</a:t>
            </a:r>
            <a:r>
              <a:rPr lang="en-US" sz="1200" dirty="0" smtClean="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739506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8296" y="755373"/>
            <a:ext cx="8554004" cy="4144617"/>
          </a:xfrm>
        </p:spPr>
        <p:txBody>
          <a:bodyPr/>
          <a:lstStyle/>
          <a:p>
            <a:r>
              <a:rPr lang="en-US" sz="1200" dirty="0" err="1" smtClean="0">
                <a:solidFill>
                  <a:schemeClr val="tx1"/>
                </a:solidFill>
              </a:rPr>
              <a:t>combined_imperial</a:t>
            </a:r>
            <a:r>
              <a:rPr lang="en-US" sz="1200" dirty="0" smtClean="0">
                <a:solidFill>
                  <a:schemeClr val="tx1"/>
                </a:solidFill>
                <a:latin typeface="Times New Roman" panose="02020603050405020304" pitchFamily="18" charset="0"/>
                <a:cs typeface="Times New Roman" panose="02020603050405020304" pitchFamily="18" charset="0"/>
              </a:rPr>
              <a:t>: </a:t>
            </a:r>
            <a:r>
              <a:rPr lang="en-US" sz="1200" dirty="0" smtClean="0">
                <a:solidFill>
                  <a:schemeClr val="tx1"/>
                </a:solidFill>
              </a:rPr>
              <a:t>The average fuel efficiency combining urban and extra-urban conditions, measured in imperial miles per gallon.</a:t>
            </a:r>
          </a:p>
          <a:p>
            <a:endParaRPr lang="en-US" sz="1200" dirty="0" smtClean="0">
              <a:solidFill>
                <a:schemeClr val="tx1"/>
              </a:solidFill>
            </a:endParaRPr>
          </a:p>
          <a:p>
            <a:r>
              <a:rPr lang="en-US" sz="1200" dirty="0" err="1" smtClean="0">
                <a:solidFill>
                  <a:schemeClr val="tx1"/>
                </a:solidFill>
              </a:rPr>
              <a:t>noise_level</a:t>
            </a:r>
            <a:r>
              <a:rPr lang="en-US" sz="1200" dirty="0" smtClean="0">
                <a:solidFill>
                  <a:schemeClr val="tx1"/>
                </a:solidFill>
              </a:rPr>
              <a:t>: The amount of noise the vehicle produces during operation, measured in decibels (dB), which is important for environmental noise pollution assessments.</a:t>
            </a:r>
          </a:p>
          <a:p>
            <a:endParaRPr lang="en-US" sz="1200" dirty="0" smtClean="0">
              <a:solidFill>
                <a:schemeClr val="tx1"/>
              </a:solidFill>
            </a:endParaRPr>
          </a:p>
          <a:p>
            <a:r>
              <a:rPr lang="en-US" sz="1200" dirty="0" smtClean="0">
                <a:solidFill>
                  <a:schemeClr val="tx1"/>
                </a:solidFill>
              </a:rPr>
              <a:t>co2: The amount of carbon dioxide emissions the vehicle produces, a key factor in global warming, usually measured in grams per kilometer (g/km).</a:t>
            </a:r>
          </a:p>
          <a:p>
            <a:endParaRPr lang="en-US" sz="1200" dirty="0" smtClean="0">
              <a:solidFill>
                <a:schemeClr val="tx1"/>
              </a:solidFill>
            </a:endParaRPr>
          </a:p>
          <a:p>
            <a:r>
              <a:rPr lang="en-US" sz="1200" dirty="0" err="1" smtClean="0">
                <a:solidFill>
                  <a:schemeClr val="tx1"/>
                </a:solidFill>
              </a:rPr>
              <a:t>thc_emissions</a:t>
            </a:r>
            <a:r>
              <a:rPr lang="en-US" sz="1200" dirty="0" smtClean="0">
                <a:solidFill>
                  <a:schemeClr val="tx1"/>
                </a:solidFill>
              </a:rPr>
              <a:t>: Total hydrocarbon emissions from the vehicle, which contribute to smog and are measured in grams per kilometer (g/km).</a:t>
            </a:r>
          </a:p>
          <a:p>
            <a:endParaRPr lang="en-US" sz="1200" dirty="0" smtClean="0">
              <a:solidFill>
                <a:schemeClr val="tx1"/>
              </a:solidFill>
            </a:endParaRPr>
          </a:p>
          <a:p>
            <a:r>
              <a:rPr lang="en-US" sz="1200" dirty="0" err="1" smtClean="0">
                <a:solidFill>
                  <a:schemeClr val="tx1"/>
                </a:solidFill>
              </a:rPr>
              <a:t>co_emissions</a:t>
            </a:r>
            <a:r>
              <a:rPr lang="en-US" sz="1200" dirty="0" smtClean="0">
                <a:solidFill>
                  <a:schemeClr val="tx1"/>
                </a:solidFill>
              </a:rPr>
              <a:t>: Carbon monoxide emissions from the vehicle, an odorless gas that can be harmful or fatal in high concentrations, measured in grams per kilometer (g/km).</a:t>
            </a:r>
          </a:p>
          <a:p>
            <a:endParaRPr lang="en-US" sz="1200" dirty="0" smtClean="0">
              <a:solidFill>
                <a:schemeClr val="tx1"/>
              </a:solidFill>
            </a:endParaRPr>
          </a:p>
          <a:p>
            <a:r>
              <a:rPr lang="en-US" sz="1200" dirty="0" err="1" smtClean="0">
                <a:solidFill>
                  <a:schemeClr val="tx1"/>
                </a:solidFill>
              </a:rPr>
              <a:t>nox_emissions</a:t>
            </a:r>
            <a:r>
              <a:rPr lang="en-US" sz="1200" dirty="0" smtClean="0">
                <a:solidFill>
                  <a:schemeClr val="tx1"/>
                </a:solidFill>
              </a:rPr>
              <a:t>: Nitrogen oxides emissions from the vehicle, which contribute to air pollution and acid rain, measured in grams per kilometer (g/km).</a:t>
            </a:r>
          </a:p>
          <a:p>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8174" y="795130"/>
            <a:ext cx="8534126" cy="3843720"/>
          </a:xfrm>
        </p:spPr>
        <p:txBody>
          <a:bodyPr/>
          <a:lstStyle/>
          <a:p>
            <a:r>
              <a:rPr lang="en-US" sz="1200" dirty="0" err="1" smtClean="0">
                <a:solidFill>
                  <a:schemeClr val="tx1"/>
                </a:solidFill>
              </a:rPr>
              <a:t>thc_nox_emissions</a:t>
            </a:r>
            <a:r>
              <a:rPr lang="en-US" sz="1200" dirty="0" smtClean="0">
                <a:solidFill>
                  <a:schemeClr val="tx1"/>
                </a:solidFill>
              </a:rPr>
              <a:t>: Combined emissions of total hydrocarbons and nitrogen oxides, which are collectively regulated due to their environmental impact.</a:t>
            </a:r>
          </a:p>
          <a:p>
            <a:endParaRPr lang="en-US" sz="1200" dirty="0" smtClean="0">
              <a:solidFill>
                <a:schemeClr val="tx1"/>
              </a:solidFill>
            </a:endParaRPr>
          </a:p>
          <a:p>
            <a:r>
              <a:rPr lang="en-US" sz="1200" dirty="0" err="1" smtClean="0">
                <a:solidFill>
                  <a:schemeClr val="tx1"/>
                </a:solidFill>
              </a:rPr>
              <a:t>particulates_emissions</a:t>
            </a:r>
            <a:r>
              <a:rPr lang="en-US" sz="1200" dirty="0" smtClean="0">
                <a:solidFill>
                  <a:schemeClr val="tx1"/>
                </a:solidFill>
              </a:rPr>
              <a:t>: This column measures the particulate matter (PM) emissions from the vehicle, which are tiny particles that can penetrate the lungs and cause health issues. Particulate emissions are of particular concern for diesel engines and are typically measured in grams per kilometer (g/km).</a:t>
            </a:r>
          </a:p>
          <a:p>
            <a:endParaRPr lang="en-US" sz="1200" dirty="0" smtClean="0">
              <a:solidFill>
                <a:schemeClr val="tx1"/>
              </a:solidFill>
            </a:endParaRPr>
          </a:p>
          <a:p>
            <a:r>
              <a:rPr lang="en-US" sz="1200" dirty="0" smtClean="0">
                <a:solidFill>
                  <a:schemeClr val="tx1"/>
                </a:solidFill>
              </a:rPr>
              <a:t>fuel_cost_12000_miles: : Estimated cost of fuel for traveling 12,000 miles, an indicator of the vehicle's long-term fuel economy.</a:t>
            </a:r>
          </a:p>
          <a:p>
            <a:endParaRPr lang="en-US" sz="1200" dirty="0" smtClean="0">
              <a:solidFill>
                <a:schemeClr val="tx1"/>
              </a:solidFill>
            </a:endParaRPr>
          </a:p>
          <a:p>
            <a:r>
              <a:rPr lang="en-US" sz="1200" dirty="0" smtClean="0">
                <a:solidFill>
                  <a:schemeClr val="tx1"/>
                </a:solidFill>
              </a:rPr>
              <a:t>fuel_cost_6000_miles: Estimated cost of fuel for traveling 6,000 miles, useful for short-term budgeting of fuel expenses.</a:t>
            </a:r>
          </a:p>
          <a:p>
            <a:endParaRPr lang="en-US" sz="1200" dirty="0" smtClean="0">
              <a:solidFill>
                <a:schemeClr val="tx1"/>
              </a:solidFill>
            </a:endParaRPr>
          </a:p>
          <a:p>
            <a:r>
              <a:rPr lang="en-US" sz="1200" dirty="0" smtClean="0">
                <a:solidFill>
                  <a:schemeClr val="tx1"/>
                </a:solidFill>
              </a:rPr>
              <a:t>standard_12_months: Likely refers to the standard cost of vehicle taxation or registration for a 12-month period.</a:t>
            </a:r>
          </a:p>
          <a:p>
            <a:endParaRPr lang="en-US" sz="1200" dirty="0" smtClean="0">
              <a:solidFill>
                <a:schemeClr val="tx1"/>
              </a:solidFill>
            </a:endParaRPr>
          </a:p>
          <a:p>
            <a:r>
              <a:rPr lang="en-US" sz="1200" dirty="0" smtClean="0">
                <a:solidFill>
                  <a:schemeClr val="tx1"/>
                </a:solidFill>
              </a:rPr>
              <a:t>standard_6_months: Similar to the above but for a 6-month period, possibly providing a shorter-term cost option for vehicle taxation or registration.</a:t>
            </a:r>
          </a:p>
          <a:p>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8052" y="844826"/>
            <a:ext cx="8514248" cy="3794024"/>
          </a:xfrm>
        </p:spPr>
        <p:txBody>
          <a:bodyPr/>
          <a:lstStyle/>
          <a:p>
            <a:r>
              <a:rPr lang="en-US" sz="1200" dirty="0" smtClean="0">
                <a:solidFill>
                  <a:schemeClr val="tx1"/>
                </a:solidFill>
              </a:rPr>
              <a:t>first_year_12_months: Costs associated with the first year of vehicle ownership, which may include higher rates of taxation or additional fees.</a:t>
            </a:r>
          </a:p>
          <a:p>
            <a:endParaRPr lang="en-US" sz="1200" dirty="0" smtClean="0">
              <a:solidFill>
                <a:schemeClr val="tx1"/>
              </a:solidFill>
            </a:endParaRPr>
          </a:p>
          <a:p>
            <a:r>
              <a:rPr lang="en-US" sz="1200" dirty="0" smtClean="0">
                <a:solidFill>
                  <a:schemeClr val="tx1"/>
                </a:solidFill>
              </a:rPr>
              <a:t>first_year_6_months: The cost for the first 6 months of owning the vehicle, which might also include initial taxes or fees that are specific to new vehicles.</a:t>
            </a:r>
          </a:p>
          <a:p>
            <a:endParaRPr lang="en-US" sz="1200" dirty="0" smtClean="0">
              <a:solidFill>
                <a:schemeClr val="tx1"/>
              </a:solidFill>
            </a:endParaRPr>
          </a:p>
          <a:p>
            <a:r>
              <a:rPr lang="en-US" sz="1200" dirty="0" err="1" smtClean="0">
                <a:solidFill>
                  <a:schemeClr val="tx1"/>
                </a:solidFill>
              </a:rPr>
              <a:t>date_of_change</a:t>
            </a:r>
            <a:r>
              <a:rPr lang="en-US" sz="1200" dirty="0" smtClean="0">
                <a:solidFill>
                  <a:schemeClr val="tx1"/>
                </a:solidFill>
              </a:rPr>
              <a:t>: Records the date when any changes were made to the vehicle's specifications or to the data entry, which can be important for tracking revisions or updates in the dataset</a:t>
            </a:r>
            <a:r>
              <a:rPr lang="en-US" sz="1200" dirty="0" smtClean="0"/>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DF4120-61BB-B79E-0681-7B5FDE21629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Preprocessing</a:t>
            </a:r>
          </a:p>
        </p:txBody>
      </p:sp>
      <p:sp>
        <p:nvSpPr>
          <p:cNvPr id="3" name="Text Placeholder 2">
            <a:extLst>
              <a:ext uri="{FF2B5EF4-FFF2-40B4-BE49-F238E27FC236}">
                <a16:creationId xmlns="" xmlns:a16="http://schemas.microsoft.com/office/drawing/2014/main" id="{F226009A-6F8F-C0B4-2579-F940F90A423C}"/>
              </a:ext>
            </a:extLst>
          </p:cNvPr>
          <p:cNvSpPr>
            <a:spLocks noGrp="1"/>
          </p:cNvSpPr>
          <p:nvPr>
            <p:ph type="body" idx="1"/>
          </p:nvPr>
        </p:nvSpPr>
        <p:spPr>
          <a:xfrm>
            <a:off x="172553" y="1225709"/>
            <a:ext cx="8520600" cy="3416400"/>
          </a:xfrm>
          <a:solidFill>
            <a:schemeClr val="bg1"/>
          </a:solidFill>
        </p:spPr>
        <p:txBody>
          <a:bodyPr/>
          <a:lstStyle/>
          <a:p>
            <a:r>
              <a:rPr lang="en-US" dirty="0">
                <a:solidFill>
                  <a:schemeClr val="tx1"/>
                </a:solidFill>
              </a:rPr>
              <a:t>Initially, the dataset contains </a:t>
            </a:r>
            <a:r>
              <a:rPr lang="en-US" dirty="0" smtClean="0">
                <a:solidFill>
                  <a:schemeClr val="tx1"/>
                </a:solidFill>
              </a:rPr>
              <a:t>45,511 </a:t>
            </a:r>
            <a:r>
              <a:rPr lang="en-US" dirty="0">
                <a:solidFill>
                  <a:schemeClr val="tx1"/>
                </a:solidFill>
              </a:rPr>
              <a:t>rows, </a:t>
            </a:r>
            <a:r>
              <a:rPr lang="en-US" dirty="0" smtClean="0">
                <a:solidFill>
                  <a:schemeClr val="tx1"/>
                </a:solidFill>
              </a:rPr>
              <a:t>31 </a:t>
            </a:r>
            <a:r>
              <a:rPr lang="en-US" dirty="0">
                <a:solidFill>
                  <a:schemeClr val="tx1"/>
                </a:solidFill>
              </a:rPr>
              <a:t>columns in total.</a:t>
            </a:r>
          </a:p>
          <a:p>
            <a:r>
              <a:rPr lang="en-US" dirty="0" smtClean="0">
                <a:solidFill>
                  <a:schemeClr val="tx1"/>
                </a:solidFill>
              </a:rPr>
              <a:t>Removed below 9 columns-high missing data , less impact on our research questions.</a:t>
            </a:r>
          </a:p>
          <a:p>
            <a:r>
              <a:rPr lang="en-US" dirty="0" err="1" smtClean="0">
                <a:solidFill>
                  <a:schemeClr val="tx1"/>
                </a:solidFill>
              </a:rPr>
              <a:t>thc_nox_emissions</a:t>
            </a:r>
            <a:r>
              <a:rPr lang="en-US" dirty="0" smtClean="0">
                <a:solidFill>
                  <a:schemeClr val="tx1"/>
                </a:solidFill>
              </a:rPr>
              <a:t>, </a:t>
            </a:r>
            <a:r>
              <a:rPr lang="en-US" dirty="0" err="1" smtClean="0">
                <a:solidFill>
                  <a:schemeClr val="tx1"/>
                </a:solidFill>
              </a:rPr>
              <a:t>particulates_emissions</a:t>
            </a:r>
            <a:r>
              <a:rPr lang="en-US" dirty="0" smtClean="0">
                <a:solidFill>
                  <a:schemeClr val="tx1"/>
                </a:solidFill>
              </a:rPr>
              <a:t>, </a:t>
            </a:r>
            <a:r>
              <a:rPr lang="en-US" dirty="0" err="1" smtClean="0">
                <a:solidFill>
                  <a:schemeClr val="tx1"/>
                </a:solidFill>
              </a:rPr>
              <a:t>thc_emissions</a:t>
            </a:r>
            <a:r>
              <a:rPr lang="en-US" dirty="0" smtClean="0">
                <a:solidFill>
                  <a:schemeClr val="tx1"/>
                </a:solidFill>
              </a:rPr>
              <a:t>, fuel_cost_6000_miles, fuel_cost_120000_miles, standard_12_months, standard_6_months, first_year_12_months, first_year_6_months, </a:t>
            </a:r>
            <a:r>
              <a:rPr lang="en-US" dirty="0" err="1" smtClean="0">
                <a:solidFill>
                  <a:schemeClr val="tx1"/>
                </a:solidFill>
              </a:rPr>
              <a:t>date_of_change</a:t>
            </a:r>
            <a:r>
              <a:rPr lang="en-US" dirty="0" smtClean="0">
                <a:solidFill>
                  <a:schemeClr val="tx1"/>
                </a:solidFill>
              </a:rPr>
              <a:t>.</a:t>
            </a:r>
          </a:p>
          <a:p>
            <a:r>
              <a:rPr lang="en-US" dirty="0" smtClean="0">
                <a:solidFill>
                  <a:schemeClr val="tx1"/>
                </a:solidFill>
              </a:rPr>
              <a:t>Columns with Inconsistent data: mixed data types and unclear data.</a:t>
            </a:r>
          </a:p>
          <a:p>
            <a:r>
              <a:rPr lang="en-US" dirty="0" err="1" smtClean="0">
                <a:solidFill>
                  <a:schemeClr val="tx1"/>
                </a:solidFill>
              </a:rPr>
              <a:t>tax_band</a:t>
            </a:r>
            <a:r>
              <a:rPr lang="en-US" dirty="0" smtClean="0">
                <a:solidFill>
                  <a:schemeClr val="tx1"/>
                </a:solidFill>
              </a:rPr>
              <a:t>, </a:t>
            </a:r>
            <a:r>
              <a:rPr lang="en-US" dirty="0" err="1" smtClean="0">
                <a:solidFill>
                  <a:schemeClr val="tx1"/>
                </a:solidFill>
              </a:rPr>
              <a:t>date_of_change</a:t>
            </a:r>
            <a:endParaRPr lang="en-US" dirty="0" smtClean="0">
              <a:solidFill>
                <a:schemeClr val="tx1"/>
              </a:solidFill>
            </a:endParaRPr>
          </a:p>
          <a:p>
            <a:pPr>
              <a:buNone/>
            </a:pPr>
            <a:endParaRPr lang="en-US" dirty="0">
              <a:solidFill>
                <a:schemeClr val="tx1"/>
              </a:solidFill>
            </a:endParaRPr>
          </a:p>
          <a:p>
            <a:endParaRPr lang="en-US" dirty="0">
              <a:solidFill>
                <a:schemeClr val="tx1"/>
              </a:solidFill>
            </a:endParaRPr>
          </a:p>
          <a:p>
            <a:pPr marL="114300" indent="0">
              <a:buNone/>
            </a:pPr>
            <a:endParaRPr lang="en-US" dirty="0">
              <a:solidFill>
                <a:schemeClr val="tx1"/>
              </a:solidFill>
            </a:endParaRPr>
          </a:p>
        </p:txBody>
      </p:sp>
    </p:spTree>
    <p:extLst>
      <p:ext uri="{BB962C8B-B14F-4D97-AF65-F5344CB8AC3E}">
        <p14:creationId xmlns="" xmlns:p14="http://schemas.microsoft.com/office/powerpoint/2010/main" val="2311472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Preprocessing</a:t>
            </a:r>
            <a:endParaRPr lang="en-US" dirty="0"/>
          </a:p>
        </p:txBody>
      </p:sp>
      <p:sp>
        <p:nvSpPr>
          <p:cNvPr id="3" name="Text Placeholder 2"/>
          <p:cNvSpPr>
            <a:spLocks noGrp="1"/>
          </p:cNvSpPr>
          <p:nvPr>
            <p:ph type="body" idx="1"/>
          </p:nvPr>
        </p:nvSpPr>
        <p:spPr/>
        <p:txBody>
          <a:bodyPr/>
          <a:lstStyle/>
          <a:p>
            <a:r>
              <a:rPr lang="en-US" dirty="0" smtClean="0">
                <a:solidFill>
                  <a:schemeClr val="tx1"/>
                </a:solidFill>
              </a:rPr>
              <a:t>Redundant columns:</a:t>
            </a:r>
          </a:p>
          <a:p>
            <a:r>
              <a:rPr lang="en-US" dirty="0" smtClean="0">
                <a:solidFill>
                  <a:schemeClr val="tx1"/>
                </a:solidFill>
              </a:rPr>
              <a:t>Since, Imperial system is prevalent, and fuel efficiency is customarily expressed in miles per gallon (mpg).</a:t>
            </a:r>
          </a:p>
          <a:p>
            <a:r>
              <a:rPr lang="en-US" dirty="0" smtClean="0">
                <a:solidFill>
                  <a:schemeClr val="tx1"/>
                </a:solidFill>
              </a:rPr>
              <a:t>Considered-</a:t>
            </a:r>
            <a:r>
              <a:rPr lang="en-US" dirty="0" smtClean="0"/>
              <a:t> </a:t>
            </a:r>
            <a:r>
              <a:rPr lang="en-US" dirty="0" err="1" smtClean="0">
                <a:solidFill>
                  <a:schemeClr val="tx1"/>
                </a:solidFill>
              </a:rPr>
              <a:t>urban_imperial</a:t>
            </a:r>
            <a:r>
              <a:rPr lang="en-US" dirty="0" smtClean="0">
                <a:solidFill>
                  <a:schemeClr val="tx1"/>
                </a:solidFill>
              </a:rPr>
              <a:t>, </a:t>
            </a:r>
            <a:r>
              <a:rPr lang="en-US" dirty="0" err="1" smtClean="0">
                <a:solidFill>
                  <a:schemeClr val="tx1"/>
                </a:solidFill>
              </a:rPr>
              <a:t>extra_urban_imperial</a:t>
            </a:r>
            <a:r>
              <a:rPr lang="en-US" dirty="0" smtClean="0">
                <a:solidFill>
                  <a:schemeClr val="tx1"/>
                </a:solidFill>
              </a:rPr>
              <a:t> and </a:t>
            </a:r>
            <a:r>
              <a:rPr lang="en-US" dirty="0" err="1" smtClean="0">
                <a:solidFill>
                  <a:schemeClr val="tx1"/>
                </a:solidFill>
              </a:rPr>
              <a:t>combined_imperial</a:t>
            </a:r>
            <a:endParaRPr lang="en-US" dirty="0" smtClean="0">
              <a:solidFill>
                <a:schemeClr val="tx1"/>
              </a:solidFill>
            </a:endParaRPr>
          </a:p>
          <a:p>
            <a:r>
              <a:rPr lang="en-US" dirty="0" smtClean="0">
                <a:solidFill>
                  <a:schemeClr val="tx1"/>
                </a:solidFill>
              </a:rPr>
              <a:t>Removed- </a:t>
            </a:r>
            <a:r>
              <a:rPr lang="en-US" dirty="0" err="1" smtClean="0">
                <a:solidFill>
                  <a:schemeClr val="tx1"/>
                </a:solidFill>
              </a:rPr>
              <a:t>urban_metric</a:t>
            </a:r>
            <a:r>
              <a:rPr lang="en-US" dirty="0" smtClean="0">
                <a:solidFill>
                  <a:schemeClr val="tx1"/>
                </a:solidFill>
              </a:rPr>
              <a:t>, </a:t>
            </a:r>
            <a:r>
              <a:rPr lang="en-US" dirty="0" err="1" smtClean="0">
                <a:solidFill>
                  <a:schemeClr val="tx1"/>
                </a:solidFill>
              </a:rPr>
              <a:t>extra_urban_metric</a:t>
            </a:r>
            <a:r>
              <a:rPr lang="en-US" dirty="0" smtClean="0">
                <a:solidFill>
                  <a:schemeClr val="tx1"/>
                </a:solidFill>
              </a:rPr>
              <a:t> and </a:t>
            </a:r>
            <a:r>
              <a:rPr lang="en-US" dirty="0" err="1" smtClean="0">
                <a:solidFill>
                  <a:schemeClr val="tx1"/>
                </a:solidFill>
              </a:rPr>
              <a:t>combined_metric</a:t>
            </a:r>
            <a:endParaRPr lang="en-US" dirty="0" smtClean="0">
              <a:solidFill>
                <a:schemeClr val="tx1"/>
              </a:solidFill>
            </a:endParaRPr>
          </a:p>
          <a:p>
            <a:endParaRPr lang="en-US" dirty="0" smtClean="0">
              <a:solidFill>
                <a:schemeClr val="tx1"/>
              </a:solidFill>
            </a:endParaRPr>
          </a:p>
          <a:p>
            <a:r>
              <a:rPr lang="en-US" dirty="0" smtClean="0">
                <a:solidFill>
                  <a:schemeClr val="tx1"/>
                </a:solidFill>
              </a:rPr>
              <a:t>Columns not relevant to our analysis: financial aspect</a:t>
            </a:r>
          </a:p>
          <a:p>
            <a:r>
              <a:rPr lang="en-US" dirty="0" smtClean="0">
                <a:solidFill>
                  <a:schemeClr val="tx1"/>
                </a:solidFill>
              </a:rPr>
              <a:t>standard_12_months, standard_6_months, first_year_12_months, and first_year_6_months</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8113" y="785191"/>
            <a:ext cx="8524187" cy="3853659"/>
          </a:xfrm>
        </p:spPr>
        <p:txBody>
          <a:bodyPr/>
          <a:lstStyle/>
          <a:p>
            <a:r>
              <a:rPr lang="en-US" b="1" dirty="0" smtClean="0">
                <a:solidFill>
                  <a:schemeClr val="tx1"/>
                </a:solidFill>
              </a:rPr>
              <a:t>Final Columns </a:t>
            </a:r>
            <a:r>
              <a:rPr lang="en-US" dirty="0" smtClean="0">
                <a:solidFill>
                  <a:schemeClr val="tx1"/>
                </a:solidFill>
              </a:rPr>
              <a:t>: 15</a:t>
            </a:r>
          </a:p>
          <a:p>
            <a:r>
              <a:rPr lang="en-US" dirty="0" smtClean="0">
                <a:solidFill>
                  <a:schemeClr val="tx1"/>
                </a:solidFill>
              </a:rPr>
              <a:t>8 Continuous: </a:t>
            </a:r>
            <a:r>
              <a:rPr lang="en-US" dirty="0" err="1" smtClean="0">
                <a:solidFill>
                  <a:schemeClr val="tx1"/>
                </a:solidFill>
              </a:rPr>
              <a:t>engine_capacity</a:t>
            </a:r>
            <a:r>
              <a:rPr lang="en-US" dirty="0" smtClean="0">
                <a:solidFill>
                  <a:schemeClr val="tx1"/>
                </a:solidFill>
              </a:rPr>
              <a:t>, </a:t>
            </a:r>
            <a:r>
              <a:rPr lang="en-US" dirty="0" err="1" smtClean="0">
                <a:solidFill>
                  <a:schemeClr val="tx1"/>
                </a:solidFill>
              </a:rPr>
              <a:t>urban_imperial</a:t>
            </a:r>
            <a:r>
              <a:rPr lang="en-US" dirty="0" smtClean="0">
                <a:solidFill>
                  <a:schemeClr val="tx1"/>
                </a:solidFill>
              </a:rPr>
              <a:t>, </a:t>
            </a:r>
            <a:r>
              <a:rPr lang="en-US" dirty="0" err="1" smtClean="0">
                <a:solidFill>
                  <a:schemeClr val="tx1"/>
                </a:solidFill>
              </a:rPr>
              <a:t>extra_urban_imperial</a:t>
            </a:r>
            <a:r>
              <a:rPr lang="en-US" dirty="0" smtClean="0">
                <a:solidFill>
                  <a:schemeClr val="tx1"/>
                </a:solidFill>
              </a:rPr>
              <a:t>, </a:t>
            </a:r>
            <a:r>
              <a:rPr lang="en-US" dirty="0" err="1" smtClean="0">
                <a:solidFill>
                  <a:schemeClr val="tx1"/>
                </a:solidFill>
              </a:rPr>
              <a:t>combined_imperial</a:t>
            </a:r>
            <a:r>
              <a:rPr lang="en-US" dirty="0" smtClean="0">
                <a:solidFill>
                  <a:schemeClr val="tx1"/>
                </a:solidFill>
              </a:rPr>
              <a:t>, </a:t>
            </a:r>
            <a:r>
              <a:rPr lang="en-US" dirty="0" err="1" smtClean="0">
                <a:solidFill>
                  <a:schemeClr val="tx1"/>
                </a:solidFill>
              </a:rPr>
              <a:t>noise_level</a:t>
            </a:r>
            <a:r>
              <a:rPr lang="en-US" dirty="0" smtClean="0">
                <a:solidFill>
                  <a:schemeClr val="tx1"/>
                </a:solidFill>
              </a:rPr>
              <a:t>, co2, </a:t>
            </a:r>
            <a:r>
              <a:rPr lang="en-US" dirty="0" err="1" smtClean="0">
                <a:solidFill>
                  <a:schemeClr val="tx1"/>
                </a:solidFill>
              </a:rPr>
              <a:t>co_emissions</a:t>
            </a:r>
            <a:r>
              <a:rPr lang="en-US" dirty="0" smtClean="0">
                <a:solidFill>
                  <a:schemeClr val="tx1"/>
                </a:solidFill>
              </a:rPr>
              <a:t>, </a:t>
            </a:r>
            <a:r>
              <a:rPr lang="en-US" dirty="0" err="1" smtClean="0">
                <a:solidFill>
                  <a:schemeClr val="tx1"/>
                </a:solidFill>
              </a:rPr>
              <a:t>nox_emissions</a:t>
            </a:r>
            <a:r>
              <a:rPr lang="en-US" dirty="0" smtClean="0">
                <a:solidFill>
                  <a:schemeClr val="tx1"/>
                </a:solidFill>
              </a:rPr>
              <a:t>.</a:t>
            </a:r>
          </a:p>
          <a:p>
            <a:r>
              <a:rPr lang="en-US" dirty="0" smtClean="0">
                <a:solidFill>
                  <a:schemeClr val="tx1"/>
                </a:solidFill>
              </a:rPr>
              <a:t>7 Categorical: Year, manufacturer, model, </a:t>
            </a:r>
            <a:r>
              <a:rPr lang="en-US" dirty="0" err="1" smtClean="0">
                <a:solidFill>
                  <a:schemeClr val="tx1"/>
                </a:solidFill>
              </a:rPr>
              <a:t>euro_standard</a:t>
            </a:r>
            <a:r>
              <a:rPr lang="en-US" dirty="0" smtClean="0">
                <a:solidFill>
                  <a:schemeClr val="tx1"/>
                </a:solidFill>
              </a:rPr>
              <a:t>, transmission, </a:t>
            </a:r>
            <a:r>
              <a:rPr lang="en-US" dirty="0" err="1" smtClean="0">
                <a:solidFill>
                  <a:schemeClr val="tx1"/>
                </a:solidFill>
              </a:rPr>
              <a:t>transmission_type</a:t>
            </a:r>
            <a:r>
              <a:rPr lang="en-US" dirty="0" smtClean="0">
                <a:solidFill>
                  <a:schemeClr val="tx1"/>
                </a:solidFill>
              </a:rPr>
              <a:t>, </a:t>
            </a:r>
            <a:r>
              <a:rPr lang="en-US" dirty="0" err="1" smtClean="0">
                <a:solidFill>
                  <a:schemeClr val="tx1"/>
                </a:solidFill>
              </a:rPr>
              <a:t>fuel_type</a:t>
            </a:r>
            <a:endParaRPr lang="en-US" dirty="0" smtClean="0">
              <a:solidFill>
                <a:schemeClr val="tx1"/>
              </a:solidFill>
            </a:endParaRPr>
          </a:p>
          <a:p>
            <a:endParaRPr lang="en-US" dirty="0" smtClean="0">
              <a:solidFill>
                <a:schemeClr val="tx1"/>
              </a:solidFill>
            </a:endParaRPr>
          </a:p>
          <a:p>
            <a:r>
              <a:rPr lang="en-US" b="1" dirty="0" smtClean="0">
                <a:solidFill>
                  <a:schemeClr val="tx1"/>
                </a:solidFill>
              </a:rPr>
              <a:t>Handling missing values</a:t>
            </a:r>
            <a:r>
              <a:rPr lang="en-US" dirty="0" smtClean="0">
                <a:solidFill>
                  <a:schemeClr val="tx1"/>
                </a:solidFill>
              </a:rPr>
              <a:t>: </a:t>
            </a:r>
          </a:p>
          <a:p>
            <a:r>
              <a:rPr lang="en-US" dirty="0" smtClean="0">
                <a:solidFill>
                  <a:schemeClr val="tx1"/>
                </a:solidFill>
              </a:rPr>
              <a:t>     Continuous : Median</a:t>
            </a:r>
          </a:p>
          <a:p>
            <a:r>
              <a:rPr lang="en-US" dirty="0" smtClean="0">
                <a:solidFill>
                  <a:schemeClr val="tx1"/>
                </a:solidFill>
              </a:rPr>
              <a:t>     Categorical : Mode</a:t>
            </a:r>
          </a:p>
          <a:p>
            <a:pPr>
              <a:buNone/>
            </a:pPr>
            <a:r>
              <a:rPr lang="en-US" dirty="0" smtClean="0"/>
              <a:t> </a:t>
            </a:r>
          </a:p>
          <a:p>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4452B6-9004-5A86-3956-6ED7C134734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Target Variable and Features selection</a:t>
            </a:r>
          </a:p>
        </p:txBody>
      </p:sp>
      <p:sp>
        <p:nvSpPr>
          <p:cNvPr id="3" name="Text Placeholder 2">
            <a:extLst>
              <a:ext uri="{FF2B5EF4-FFF2-40B4-BE49-F238E27FC236}">
                <a16:creationId xmlns="" xmlns:a16="http://schemas.microsoft.com/office/drawing/2014/main" id="{245EB3E4-CD20-6582-79B8-5D235CCCE70E}"/>
              </a:ext>
            </a:extLst>
          </p:cNvPr>
          <p:cNvSpPr>
            <a:spLocks noGrp="1"/>
          </p:cNvSpPr>
          <p:nvPr>
            <p:ph type="body" idx="1"/>
          </p:nvPr>
        </p:nvSpPr>
        <p:spPr/>
        <p:txBody>
          <a:bodyPr/>
          <a:lstStyle/>
          <a:p>
            <a:r>
              <a:rPr lang="en-US" dirty="0">
                <a:solidFill>
                  <a:schemeClr val="tx1"/>
                </a:solidFill>
              </a:rPr>
              <a:t>The Target variable to </a:t>
            </a:r>
            <a:r>
              <a:rPr lang="en-US" dirty="0" smtClean="0">
                <a:solidFill>
                  <a:schemeClr val="tx1"/>
                </a:solidFill>
              </a:rPr>
              <a:t>host co2 prediction is ‘co2’. </a:t>
            </a:r>
            <a:endParaRPr lang="en-US" dirty="0">
              <a:solidFill>
                <a:schemeClr val="tx1"/>
              </a:solidFill>
            </a:endParaRPr>
          </a:p>
          <a:p>
            <a:r>
              <a:rPr lang="en-US" dirty="0">
                <a:solidFill>
                  <a:schemeClr val="tx1"/>
                </a:solidFill>
              </a:rPr>
              <a:t>Amongst the </a:t>
            </a:r>
            <a:r>
              <a:rPr lang="en-US" dirty="0" smtClean="0">
                <a:solidFill>
                  <a:schemeClr val="tx1"/>
                </a:solidFill>
              </a:rPr>
              <a:t>31 </a:t>
            </a:r>
            <a:r>
              <a:rPr lang="en-US" dirty="0">
                <a:solidFill>
                  <a:schemeClr val="tx1"/>
                </a:solidFill>
              </a:rPr>
              <a:t>variables, most relevant variables </a:t>
            </a:r>
            <a:r>
              <a:rPr lang="en-US" dirty="0" smtClean="0">
                <a:solidFill>
                  <a:schemeClr val="tx1"/>
                </a:solidFill>
              </a:rPr>
              <a:t>on </a:t>
            </a:r>
            <a:r>
              <a:rPr lang="en-US" dirty="0">
                <a:solidFill>
                  <a:schemeClr val="tx1"/>
                </a:solidFill>
              </a:rPr>
              <a:t>available data and characteristics are</a:t>
            </a:r>
            <a:r>
              <a:rPr lang="en-US" dirty="0" smtClean="0">
                <a:solidFill>
                  <a:schemeClr val="tx1"/>
                </a:solidFill>
              </a:rPr>
              <a:t>:</a:t>
            </a:r>
            <a:r>
              <a:rPr lang="en-US" dirty="0" smtClean="0"/>
              <a:t> </a:t>
            </a:r>
            <a:r>
              <a:rPr lang="en-US" dirty="0" smtClean="0">
                <a:solidFill>
                  <a:schemeClr val="tx1"/>
                </a:solidFill>
              </a:rPr>
              <a:t>Year, manufacturer, model, </a:t>
            </a:r>
            <a:r>
              <a:rPr lang="en-US" dirty="0" err="1" smtClean="0">
                <a:solidFill>
                  <a:schemeClr val="tx1"/>
                </a:solidFill>
              </a:rPr>
              <a:t>euro_standard</a:t>
            </a:r>
            <a:r>
              <a:rPr lang="en-US" dirty="0" smtClean="0">
                <a:solidFill>
                  <a:schemeClr val="tx1"/>
                </a:solidFill>
              </a:rPr>
              <a:t>, transmission, </a:t>
            </a:r>
            <a:r>
              <a:rPr lang="en-US" dirty="0" err="1" smtClean="0">
                <a:solidFill>
                  <a:schemeClr val="tx1"/>
                </a:solidFill>
              </a:rPr>
              <a:t>transmission_type</a:t>
            </a:r>
            <a:r>
              <a:rPr lang="en-US" dirty="0" smtClean="0">
                <a:solidFill>
                  <a:schemeClr val="tx1"/>
                </a:solidFill>
              </a:rPr>
              <a:t>, </a:t>
            </a:r>
            <a:r>
              <a:rPr lang="en-US" dirty="0" err="1" smtClean="0">
                <a:solidFill>
                  <a:schemeClr val="tx1"/>
                </a:solidFill>
              </a:rPr>
              <a:t>engine_capacity</a:t>
            </a:r>
            <a:r>
              <a:rPr lang="en-US" dirty="0" smtClean="0">
                <a:solidFill>
                  <a:schemeClr val="tx1"/>
                </a:solidFill>
              </a:rPr>
              <a:t>, </a:t>
            </a:r>
            <a:r>
              <a:rPr lang="en-US" dirty="0" err="1" smtClean="0">
                <a:solidFill>
                  <a:schemeClr val="tx1"/>
                </a:solidFill>
              </a:rPr>
              <a:t>fuel_type</a:t>
            </a:r>
            <a:r>
              <a:rPr lang="en-US" dirty="0" smtClean="0">
                <a:solidFill>
                  <a:schemeClr val="tx1"/>
                </a:solidFill>
              </a:rPr>
              <a:t>, </a:t>
            </a:r>
            <a:r>
              <a:rPr lang="en-US" dirty="0" err="1" smtClean="0">
                <a:solidFill>
                  <a:schemeClr val="tx1"/>
                </a:solidFill>
              </a:rPr>
              <a:t>urban_imperial</a:t>
            </a:r>
            <a:r>
              <a:rPr lang="en-US" dirty="0" smtClean="0">
                <a:solidFill>
                  <a:schemeClr val="tx1"/>
                </a:solidFill>
              </a:rPr>
              <a:t>, </a:t>
            </a:r>
            <a:r>
              <a:rPr lang="en-US" dirty="0" err="1" smtClean="0">
                <a:solidFill>
                  <a:schemeClr val="tx1"/>
                </a:solidFill>
              </a:rPr>
              <a:t>extra_urban_imperial</a:t>
            </a:r>
            <a:r>
              <a:rPr lang="en-US" dirty="0" smtClean="0">
                <a:solidFill>
                  <a:schemeClr val="tx1"/>
                </a:solidFill>
              </a:rPr>
              <a:t>, </a:t>
            </a:r>
            <a:r>
              <a:rPr lang="en-US" dirty="0" err="1" smtClean="0">
                <a:solidFill>
                  <a:schemeClr val="tx1"/>
                </a:solidFill>
              </a:rPr>
              <a:t>combined_imperial</a:t>
            </a:r>
            <a:r>
              <a:rPr lang="en-US" dirty="0" smtClean="0">
                <a:solidFill>
                  <a:schemeClr val="tx1"/>
                </a:solidFill>
              </a:rPr>
              <a:t>, </a:t>
            </a:r>
            <a:r>
              <a:rPr lang="en-US" dirty="0" err="1" smtClean="0">
                <a:solidFill>
                  <a:schemeClr val="tx1"/>
                </a:solidFill>
              </a:rPr>
              <a:t>noise_level</a:t>
            </a:r>
            <a:r>
              <a:rPr lang="en-US" dirty="0" smtClean="0">
                <a:solidFill>
                  <a:schemeClr val="tx1"/>
                </a:solidFill>
              </a:rPr>
              <a:t>, co2, </a:t>
            </a:r>
            <a:r>
              <a:rPr lang="en-US" dirty="0" err="1" smtClean="0">
                <a:solidFill>
                  <a:schemeClr val="tx1"/>
                </a:solidFill>
              </a:rPr>
              <a:t>co_emissions</a:t>
            </a:r>
            <a:r>
              <a:rPr lang="en-US" dirty="0" smtClean="0">
                <a:solidFill>
                  <a:schemeClr val="tx1"/>
                </a:solidFill>
              </a:rPr>
              <a:t>, </a:t>
            </a:r>
            <a:r>
              <a:rPr lang="en-US" dirty="0" err="1" smtClean="0">
                <a:solidFill>
                  <a:schemeClr val="tx1"/>
                </a:solidFill>
              </a:rPr>
              <a:t>nox_emissions</a:t>
            </a:r>
            <a:r>
              <a:rPr lang="en-US" dirty="0" smtClean="0">
                <a:solidFill>
                  <a:schemeClr val="tx1"/>
                </a:solidFill>
              </a:rPr>
              <a:t>,</a:t>
            </a:r>
            <a:endParaRPr lang="en-US" dirty="0">
              <a:solidFill>
                <a:schemeClr val="tx1"/>
              </a:solidFill>
            </a:endParaRPr>
          </a:p>
        </p:txBody>
      </p:sp>
    </p:spTree>
    <p:extLst>
      <p:ext uri="{BB962C8B-B14F-4D97-AF65-F5344CB8AC3E}">
        <p14:creationId xmlns="" xmlns:p14="http://schemas.microsoft.com/office/powerpoint/2010/main" val="3542759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F4BB44-4222-208A-F08A-8E48C3BE6F6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Exploratory Data Analysis</a:t>
            </a:r>
          </a:p>
        </p:txBody>
      </p:sp>
      <p:sp>
        <p:nvSpPr>
          <p:cNvPr id="3" name="Text Placeholder 2">
            <a:extLst>
              <a:ext uri="{FF2B5EF4-FFF2-40B4-BE49-F238E27FC236}">
                <a16:creationId xmlns="" xmlns:a16="http://schemas.microsoft.com/office/drawing/2014/main" id="{FBE7CFAE-A2F5-86A1-A75B-6111847DA9CB}"/>
              </a:ext>
            </a:extLst>
          </p:cNvPr>
          <p:cNvSpPr>
            <a:spLocks noGrp="1"/>
          </p:cNvSpPr>
          <p:nvPr>
            <p:ph type="body"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endParaRPr lang="en-US" dirty="0" smtClean="0"/>
          </a:p>
          <a:p>
            <a:pPr>
              <a:buNone/>
            </a:pPr>
            <a:endParaRPr lang="en-US" dirty="0" smtClean="0"/>
          </a:p>
        </p:txBody>
      </p:sp>
      <p:pic>
        <p:nvPicPr>
          <p:cNvPr id="1026" name="Picture 2"/>
          <p:cNvPicPr>
            <a:picLocks noChangeAspect="1" noChangeArrowheads="1"/>
          </p:cNvPicPr>
          <p:nvPr/>
        </p:nvPicPr>
        <p:blipFill>
          <a:blip r:embed="rId2"/>
          <a:srcRect/>
          <a:stretch>
            <a:fillRect/>
          </a:stretch>
        </p:blipFill>
        <p:spPr bwMode="auto">
          <a:xfrm>
            <a:off x="695741" y="1444604"/>
            <a:ext cx="3548268" cy="2290646"/>
          </a:xfrm>
          <a:prstGeom prst="rect">
            <a:avLst/>
          </a:prstGeom>
          <a:noFill/>
          <a:ln w="9525">
            <a:noFill/>
            <a:miter lim="800000"/>
            <a:headEnd/>
            <a:tailEnd/>
          </a:ln>
        </p:spPr>
      </p:pic>
      <p:pic>
        <p:nvPicPr>
          <p:cNvPr id="1027" name="Picture 3"/>
          <p:cNvPicPr>
            <a:picLocks noChangeAspect="1" noChangeArrowheads="1"/>
          </p:cNvPicPr>
          <p:nvPr/>
        </p:nvPicPr>
        <p:blipFill>
          <a:blip r:embed="rId3"/>
          <a:srcRect/>
          <a:stretch>
            <a:fillRect/>
          </a:stretch>
        </p:blipFill>
        <p:spPr bwMode="auto">
          <a:xfrm>
            <a:off x="4880113" y="1610139"/>
            <a:ext cx="3431550" cy="1868557"/>
          </a:xfrm>
          <a:prstGeom prst="rect">
            <a:avLst/>
          </a:prstGeom>
          <a:noFill/>
          <a:ln w="9525">
            <a:noFill/>
            <a:miter lim="800000"/>
            <a:headEnd/>
            <a:tailEnd/>
          </a:ln>
        </p:spPr>
      </p:pic>
      <p:sp>
        <p:nvSpPr>
          <p:cNvPr id="10" name="TextBox 9"/>
          <p:cNvSpPr txBox="1"/>
          <p:nvPr/>
        </p:nvSpPr>
        <p:spPr>
          <a:xfrm>
            <a:off x="1103243" y="3975652"/>
            <a:ext cx="2445027" cy="738664"/>
          </a:xfrm>
          <a:prstGeom prst="rect">
            <a:avLst/>
          </a:prstGeom>
          <a:noFill/>
        </p:spPr>
        <p:txBody>
          <a:bodyPr wrap="square" rtlCol="0">
            <a:spAutoFit/>
          </a:bodyPr>
          <a:lstStyle/>
          <a:p>
            <a:pPr>
              <a:buFont typeface="Arial" pitchFamily="34" charset="0"/>
              <a:buChar char="•"/>
            </a:pPr>
            <a:r>
              <a:rPr lang="en-US" dirty="0" smtClean="0"/>
              <a:t> Most vehicles have smaller engines, and fewer vehicles have larger engines</a:t>
            </a:r>
            <a:endParaRPr lang="en-US" dirty="0"/>
          </a:p>
        </p:txBody>
      </p:sp>
      <p:sp>
        <p:nvSpPr>
          <p:cNvPr id="11" name="TextBox 10"/>
          <p:cNvSpPr txBox="1"/>
          <p:nvPr/>
        </p:nvSpPr>
        <p:spPr>
          <a:xfrm>
            <a:off x="5327374" y="3876261"/>
            <a:ext cx="2713383" cy="738664"/>
          </a:xfrm>
          <a:prstGeom prst="rect">
            <a:avLst/>
          </a:prstGeom>
          <a:noFill/>
        </p:spPr>
        <p:txBody>
          <a:bodyPr wrap="square" rtlCol="0">
            <a:spAutoFit/>
          </a:bodyPr>
          <a:lstStyle/>
          <a:p>
            <a:pPr>
              <a:buFont typeface="Arial" pitchFamily="34" charset="0"/>
              <a:buChar char="•"/>
            </a:pPr>
            <a:r>
              <a:rPr lang="en-US" dirty="0" smtClean="0"/>
              <a:t>As CO2 emissions increase, the number of vehicles decreases</a:t>
            </a:r>
            <a:endParaRPr lang="en-US" dirty="0"/>
          </a:p>
        </p:txBody>
      </p:sp>
    </p:spTree>
    <p:extLst>
      <p:ext uri="{BB962C8B-B14F-4D97-AF65-F5344CB8AC3E}">
        <p14:creationId xmlns="" xmlns:p14="http://schemas.microsoft.com/office/powerpoint/2010/main" val="2360285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85800" y="991865"/>
            <a:ext cx="4442792" cy="2924154"/>
          </a:xfrm>
          <a:prstGeom prst="rect">
            <a:avLst/>
          </a:prstGeom>
          <a:noFill/>
          <a:ln w="9525">
            <a:noFill/>
            <a:miter lim="800000"/>
            <a:headEnd/>
            <a:tailEnd/>
          </a:ln>
        </p:spPr>
      </p:pic>
      <p:sp>
        <p:nvSpPr>
          <p:cNvPr id="4" name="TextBox 3"/>
          <p:cNvSpPr txBox="1"/>
          <p:nvPr/>
        </p:nvSpPr>
        <p:spPr>
          <a:xfrm>
            <a:off x="5605670" y="1282148"/>
            <a:ext cx="3031434" cy="2246769"/>
          </a:xfrm>
          <a:prstGeom prst="rect">
            <a:avLst/>
          </a:prstGeom>
          <a:noFill/>
        </p:spPr>
        <p:txBody>
          <a:bodyPr wrap="square" rtlCol="0">
            <a:spAutoFit/>
          </a:bodyPr>
          <a:lstStyle/>
          <a:p>
            <a:pPr>
              <a:buFont typeface="Arial" pitchFamily="34" charset="0"/>
              <a:buChar char="•"/>
            </a:pPr>
            <a:r>
              <a:rPr lang="en-US" dirty="0" smtClean="0"/>
              <a:t>A high frequency of vehicles have low </a:t>
            </a:r>
            <a:r>
              <a:rPr lang="en-US" dirty="0" err="1" smtClean="0"/>
              <a:t>NOx</a:t>
            </a:r>
            <a:r>
              <a:rPr lang="en-US" dirty="0" smtClean="0"/>
              <a:t> emissions.</a:t>
            </a:r>
          </a:p>
          <a:p>
            <a:pPr>
              <a:buFont typeface="Arial" pitchFamily="34" charset="0"/>
              <a:buChar char="•"/>
            </a:pPr>
            <a:endParaRPr lang="en-US" dirty="0" smtClean="0"/>
          </a:p>
          <a:p>
            <a:pPr>
              <a:buFont typeface="Arial" pitchFamily="34" charset="0"/>
              <a:buChar char="•"/>
            </a:pPr>
            <a:r>
              <a:rPr lang="en-US" dirty="0" smtClean="0"/>
              <a:t> As the </a:t>
            </a:r>
            <a:r>
              <a:rPr lang="en-US" dirty="0" err="1" smtClean="0"/>
              <a:t>NOx</a:t>
            </a:r>
            <a:r>
              <a:rPr lang="en-US" dirty="0" smtClean="0"/>
              <a:t> emissions increase, the frequency of vehicles drastically decreases.</a:t>
            </a:r>
          </a:p>
          <a:p>
            <a:pPr>
              <a:buFont typeface="Arial" pitchFamily="34" charset="0"/>
              <a:buChar char="•"/>
            </a:pPr>
            <a:endParaRPr lang="en-US" dirty="0" smtClean="0"/>
          </a:p>
          <a:p>
            <a:pPr>
              <a:buFont typeface="Arial" pitchFamily="34" charset="0"/>
              <a:buChar char="•"/>
            </a:pPr>
            <a:r>
              <a:rPr lang="en-US" dirty="0" smtClean="0"/>
              <a:t> Indicates that higher </a:t>
            </a:r>
            <a:r>
              <a:rPr lang="en-US" dirty="0" err="1" smtClean="0"/>
              <a:t>NOx</a:t>
            </a:r>
            <a:r>
              <a:rPr lang="en-US" dirty="0" smtClean="0"/>
              <a:t> emissions are much less common in this dataset</a:t>
            </a:r>
            <a:endParaRPr lang="en-US" dirty="0"/>
          </a:p>
        </p:txBody>
      </p:sp>
    </p:spTree>
    <p:extLst>
      <p:ext uri="{BB962C8B-B14F-4D97-AF65-F5344CB8AC3E}">
        <p14:creationId xmlns="" xmlns:p14="http://schemas.microsoft.com/office/powerpoint/2010/main" val="3849368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26165" y="1351722"/>
            <a:ext cx="4641574" cy="2690604"/>
          </a:xfrm>
          <a:prstGeom prst="rect">
            <a:avLst/>
          </a:prstGeom>
          <a:noFill/>
          <a:ln w="9525">
            <a:noFill/>
            <a:miter lim="800000"/>
            <a:headEnd/>
            <a:tailEnd/>
          </a:ln>
        </p:spPr>
      </p:pic>
      <p:sp>
        <p:nvSpPr>
          <p:cNvPr id="4" name="TextBox 3"/>
          <p:cNvSpPr txBox="1"/>
          <p:nvPr/>
        </p:nvSpPr>
        <p:spPr>
          <a:xfrm>
            <a:off x="5933661" y="2405270"/>
            <a:ext cx="2266122" cy="738664"/>
          </a:xfrm>
          <a:prstGeom prst="rect">
            <a:avLst/>
          </a:prstGeom>
          <a:noFill/>
        </p:spPr>
        <p:txBody>
          <a:bodyPr wrap="square" rtlCol="0">
            <a:spAutoFit/>
          </a:bodyPr>
          <a:lstStyle/>
          <a:p>
            <a:pPr>
              <a:buFont typeface="Arial" pitchFamily="34" charset="0"/>
              <a:buChar char="•"/>
            </a:pPr>
            <a:r>
              <a:rPr lang="en-US" dirty="0" smtClean="0"/>
              <a:t>Right skewed-Many vehicles have relatively low CO emissions.</a:t>
            </a:r>
            <a:endParaRPr lang="en-US" dirty="0"/>
          </a:p>
        </p:txBody>
      </p:sp>
    </p:spTree>
    <p:extLst>
      <p:ext uri="{BB962C8B-B14F-4D97-AF65-F5344CB8AC3E}">
        <p14:creationId xmlns="" xmlns:p14="http://schemas.microsoft.com/office/powerpoint/2010/main" val="2817184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7745" y="846306"/>
            <a:ext cx="3959157" cy="3920246"/>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262647" y="723644"/>
            <a:ext cx="4220994" cy="4065810"/>
          </a:xfrm>
          <a:prstGeom prst="rect">
            <a:avLst/>
          </a:prstGeom>
          <a:noFill/>
          <a:ln w="9525">
            <a:noFill/>
            <a:miter lim="800000"/>
            <a:headEnd/>
            <a:tailEnd/>
          </a:ln>
        </p:spPr>
      </p:pic>
      <p:sp>
        <p:nvSpPr>
          <p:cNvPr id="5" name="TextBox 4"/>
          <p:cNvSpPr txBox="1"/>
          <p:nvPr/>
        </p:nvSpPr>
        <p:spPr>
          <a:xfrm>
            <a:off x="4963886" y="2538919"/>
            <a:ext cx="3707841" cy="523220"/>
          </a:xfrm>
          <a:prstGeom prst="rect">
            <a:avLst/>
          </a:prstGeom>
          <a:noFill/>
        </p:spPr>
        <p:txBody>
          <a:bodyPr wrap="square" rtlCol="0">
            <a:spAutoFit/>
          </a:bodyPr>
          <a:lstStyle/>
          <a:p>
            <a:pPr>
              <a:buFont typeface="Arial" pitchFamily="34" charset="0"/>
              <a:buChar char="•"/>
            </a:pPr>
            <a:r>
              <a:rPr lang="en-US" dirty="0" smtClean="0"/>
              <a:t> Count of vehicles by different manufacturers.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4478" y="1293779"/>
            <a:ext cx="3959156" cy="2811293"/>
          </a:xfrm>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389106" y="1070042"/>
            <a:ext cx="4548956" cy="3234585"/>
          </a:xfrm>
          <a:prstGeom prst="rect">
            <a:avLst/>
          </a:prstGeom>
          <a:noFill/>
          <a:ln w="9525">
            <a:noFill/>
            <a:miter lim="800000"/>
            <a:headEnd/>
            <a:tailEnd/>
          </a:ln>
        </p:spPr>
      </p:pic>
      <p:sp>
        <p:nvSpPr>
          <p:cNvPr id="5" name="TextBox 4"/>
          <p:cNvSpPr txBox="1"/>
          <p:nvPr/>
        </p:nvSpPr>
        <p:spPr>
          <a:xfrm>
            <a:off x="5437763" y="2529191"/>
            <a:ext cx="3336586" cy="307777"/>
          </a:xfrm>
          <a:prstGeom prst="rect">
            <a:avLst/>
          </a:prstGeom>
          <a:noFill/>
        </p:spPr>
        <p:txBody>
          <a:bodyPr wrap="square" rtlCol="0">
            <a:spAutoFit/>
          </a:bodyPr>
          <a:lstStyle/>
          <a:p>
            <a:pPr>
              <a:buFont typeface="Arial" pitchFamily="34" charset="0"/>
              <a:buChar char="•"/>
            </a:pPr>
            <a:r>
              <a:rPr lang="en-US" dirty="0" smtClean="0"/>
              <a:t> Petrol and Diesel are predominant.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854764" y="1726640"/>
            <a:ext cx="3867358" cy="2323555"/>
          </a:xfrm>
          <a:prstGeom prst="rect">
            <a:avLst/>
          </a:prstGeom>
          <a:noFill/>
          <a:ln w="9525">
            <a:noFill/>
            <a:miter lim="800000"/>
            <a:headEnd/>
            <a:tailEnd/>
          </a:ln>
        </p:spPr>
      </p:pic>
      <p:sp>
        <p:nvSpPr>
          <p:cNvPr id="4" name="TextBox 3"/>
          <p:cNvSpPr txBox="1"/>
          <p:nvPr/>
        </p:nvSpPr>
        <p:spPr>
          <a:xfrm>
            <a:off x="5108714" y="1928191"/>
            <a:ext cx="2464904" cy="954107"/>
          </a:xfrm>
          <a:prstGeom prst="rect">
            <a:avLst/>
          </a:prstGeom>
          <a:noFill/>
        </p:spPr>
        <p:txBody>
          <a:bodyPr wrap="square" rtlCol="0">
            <a:spAutoFit/>
          </a:bodyPr>
          <a:lstStyle/>
          <a:p>
            <a:pPr>
              <a:buFont typeface="Arial" pitchFamily="34" charset="0"/>
              <a:buChar char="•"/>
            </a:pPr>
            <a:r>
              <a:rPr lang="en-US" dirty="0" err="1" smtClean="0"/>
              <a:t>Unimodal</a:t>
            </a:r>
            <a:r>
              <a:rPr lang="en-US" dirty="0" smtClean="0"/>
              <a:t>-fewer vehicles have lower or higher noise levels compared to the central peak.</a:t>
            </a:r>
            <a:endParaRPr lang="en-US" dirty="0"/>
          </a:p>
        </p:txBody>
      </p:sp>
    </p:spTree>
    <p:extLst>
      <p:ext uri="{BB962C8B-B14F-4D97-AF65-F5344CB8AC3E}">
        <p14:creationId xmlns="" xmlns:p14="http://schemas.microsoft.com/office/powerpoint/2010/main" val="2080869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844825" y="1103243"/>
            <a:ext cx="4472609" cy="3289853"/>
          </a:xfrm>
          <a:prstGeom prst="rect">
            <a:avLst/>
          </a:prstGeom>
          <a:noFill/>
          <a:ln w="9525">
            <a:noFill/>
            <a:miter lim="800000"/>
            <a:headEnd/>
            <a:tailEnd/>
          </a:ln>
        </p:spPr>
      </p:pic>
      <p:sp>
        <p:nvSpPr>
          <p:cNvPr id="4" name="TextBox 3"/>
          <p:cNvSpPr txBox="1"/>
          <p:nvPr/>
        </p:nvSpPr>
        <p:spPr>
          <a:xfrm>
            <a:off x="5546691" y="1857982"/>
            <a:ext cx="3179866" cy="738664"/>
          </a:xfrm>
          <a:prstGeom prst="rect">
            <a:avLst/>
          </a:prstGeom>
          <a:noFill/>
        </p:spPr>
        <p:txBody>
          <a:bodyPr wrap="square" rtlCol="0">
            <a:spAutoFit/>
          </a:bodyPr>
          <a:lstStyle/>
          <a:p>
            <a:pPr>
              <a:buFont typeface="Arial" pitchFamily="34" charset="0"/>
              <a:buChar char="•"/>
            </a:pPr>
            <a:r>
              <a:rPr lang="en-US" dirty="0" smtClean="0"/>
              <a:t>Does not show a clear trend in CO2 emissions reduction or increase over time.</a:t>
            </a:r>
            <a:endParaRPr lang="en-US" dirty="0"/>
          </a:p>
        </p:txBody>
      </p:sp>
    </p:spTree>
    <p:extLst>
      <p:ext uri="{BB962C8B-B14F-4D97-AF65-F5344CB8AC3E}">
        <p14:creationId xmlns="" xmlns:p14="http://schemas.microsoft.com/office/powerpoint/2010/main" val="228732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333375" y="844827"/>
            <a:ext cx="8477250" cy="2653747"/>
          </a:xfrm>
          <a:prstGeom prst="rect">
            <a:avLst/>
          </a:prstGeom>
          <a:noFill/>
          <a:ln w="9525">
            <a:noFill/>
            <a:miter lim="800000"/>
            <a:headEnd/>
            <a:tailEnd/>
          </a:ln>
        </p:spPr>
      </p:pic>
      <p:sp>
        <p:nvSpPr>
          <p:cNvPr id="6" name="TextBox 5"/>
          <p:cNvSpPr txBox="1"/>
          <p:nvPr/>
        </p:nvSpPr>
        <p:spPr>
          <a:xfrm>
            <a:off x="1321905" y="4104861"/>
            <a:ext cx="1490870" cy="307777"/>
          </a:xfrm>
          <a:prstGeom prst="rect">
            <a:avLst/>
          </a:prstGeom>
          <a:noFill/>
        </p:spPr>
        <p:txBody>
          <a:bodyPr wrap="square" rtlCol="0">
            <a:spAutoFit/>
          </a:bodyPr>
          <a:lstStyle/>
          <a:p>
            <a:r>
              <a:rPr lang="en-US" dirty="0" smtClean="0"/>
              <a:t>Less efficiency</a:t>
            </a:r>
            <a:endParaRPr lang="en-US" dirty="0"/>
          </a:p>
        </p:txBody>
      </p:sp>
      <p:sp>
        <p:nvSpPr>
          <p:cNvPr id="8" name="TextBox 7"/>
          <p:cNvSpPr txBox="1"/>
          <p:nvPr/>
        </p:nvSpPr>
        <p:spPr>
          <a:xfrm>
            <a:off x="3925957" y="4104862"/>
            <a:ext cx="1739347" cy="307777"/>
          </a:xfrm>
          <a:prstGeom prst="rect">
            <a:avLst/>
          </a:prstGeom>
          <a:noFill/>
        </p:spPr>
        <p:txBody>
          <a:bodyPr wrap="square" rtlCol="0">
            <a:spAutoFit/>
          </a:bodyPr>
          <a:lstStyle/>
          <a:p>
            <a:r>
              <a:rPr lang="en-US" dirty="0" smtClean="0"/>
              <a:t>More fuel-efficient</a:t>
            </a:r>
            <a:endParaRPr lang="en-US" dirty="0"/>
          </a:p>
        </p:txBody>
      </p:sp>
      <p:sp>
        <p:nvSpPr>
          <p:cNvPr id="9" name="TextBox 8"/>
          <p:cNvSpPr txBox="1"/>
          <p:nvPr/>
        </p:nvSpPr>
        <p:spPr>
          <a:xfrm>
            <a:off x="6219930" y="3908810"/>
            <a:ext cx="2622619" cy="523220"/>
          </a:xfrm>
          <a:prstGeom prst="rect">
            <a:avLst/>
          </a:prstGeom>
          <a:noFill/>
        </p:spPr>
        <p:txBody>
          <a:bodyPr wrap="square" rtlCol="0">
            <a:spAutoFit/>
          </a:bodyPr>
          <a:lstStyle/>
          <a:p>
            <a:r>
              <a:rPr lang="en-US" dirty="0" smtClean="0"/>
              <a:t>Better overall efficiency but still less than extra-urban driving</a:t>
            </a:r>
            <a:endParaRPr lang="en-US" dirty="0"/>
          </a:p>
        </p:txBody>
      </p:sp>
    </p:spTree>
    <p:extLst>
      <p:ext uri="{BB962C8B-B14F-4D97-AF65-F5344CB8AC3E}">
        <p14:creationId xmlns="" xmlns:p14="http://schemas.microsoft.com/office/powerpoint/2010/main" val="1567562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819564" y="1441174"/>
            <a:ext cx="3553653" cy="2594113"/>
          </a:xfrm>
          <a:prstGeom prst="rect">
            <a:avLst/>
          </a:prstGeom>
          <a:noFill/>
          <a:ln w="9525">
            <a:noFill/>
            <a:miter lim="800000"/>
            <a:headEnd/>
            <a:tailEnd/>
          </a:ln>
        </p:spPr>
      </p:pic>
      <p:sp>
        <p:nvSpPr>
          <p:cNvPr id="4" name="TextBox 3"/>
          <p:cNvSpPr txBox="1"/>
          <p:nvPr/>
        </p:nvSpPr>
        <p:spPr>
          <a:xfrm>
            <a:off x="4780722" y="1659835"/>
            <a:ext cx="4081925" cy="1169551"/>
          </a:xfrm>
          <a:prstGeom prst="rect">
            <a:avLst/>
          </a:prstGeom>
          <a:noFill/>
        </p:spPr>
        <p:txBody>
          <a:bodyPr wrap="square" rtlCol="0">
            <a:spAutoFit/>
          </a:bodyPr>
          <a:lstStyle/>
          <a:p>
            <a:pPr>
              <a:buFont typeface="Arial" pitchFamily="34" charset="0"/>
              <a:buChar char="•"/>
            </a:pPr>
            <a:r>
              <a:rPr lang="en-US" dirty="0" smtClean="0"/>
              <a:t> Euro 4 standards were actively enforced.</a:t>
            </a:r>
          </a:p>
          <a:p>
            <a:pPr>
              <a:buFont typeface="Arial" pitchFamily="34" charset="0"/>
              <a:buChar char="•"/>
            </a:pPr>
            <a:r>
              <a:rPr lang="it-IT" dirty="0" smtClean="0"/>
              <a:t> Euro 1 and Euro 2 -phasing out of older vehicles.</a:t>
            </a:r>
          </a:p>
          <a:p>
            <a:pPr>
              <a:buFont typeface="Arial" pitchFamily="34" charset="0"/>
              <a:buChar char="•"/>
            </a:pPr>
            <a:r>
              <a:rPr lang="it-IT" dirty="0" smtClean="0"/>
              <a:t> Euro 5 and Euro 6-</a:t>
            </a:r>
            <a:r>
              <a:rPr lang="en-US" dirty="0" smtClean="0"/>
              <a:t>potentially reflecting the transition.</a:t>
            </a:r>
            <a:endParaRPr lang="en-US" dirty="0"/>
          </a:p>
        </p:txBody>
      </p:sp>
    </p:spTree>
    <p:extLst>
      <p:ext uri="{BB962C8B-B14F-4D97-AF65-F5344CB8AC3E}">
        <p14:creationId xmlns="" xmlns:p14="http://schemas.microsoft.com/office/powerpoint/2010/main" val="3755967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636106" y="785191"/>
            <a:ext cx="4949686" cy="3945835"/>
          </a:xfrm>
          <a:prstGeom prst="rect">
            <a:avLst/>
          </a:prstGeom>
          <a:noFill/>
          <a:ln w="9525">
            <a:noFill/>
            <a:miter lim="800000"/>
            <a:headEnd/>
            <a:tailEnd/>
          </a:ln>
        </p:spPr>
      </p:pic>
    </p:spTree>
    <p:extLst>
      <p:ext uri="{BB962C8B-B14F-4D97-AF65-F5344CB8AC3E}">
        <p14:creationId xmlns="" xmlns:p14="http://schemas.microsoft.com/office/powerpoint/2010/main" val="3442868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013791"/>
            <a:ext cx="8299174" cy="2246769"/>
          </a:xfrm>
          <a:prstGeom prst="rect">
            <a:avLst/>
          </a:prstGeom>
          <a:noFill/>
        </p:spPr>
        <p:txBody>
          <a:bodyPr wrap="square" rtlCol="0">
            <a:spAutoFit/>
          </a:bodyPr>
          <a:lstStyle/>
          <a:p>
            <a:r>
              <a:rPr lang="en-US" b="1" dirty="0" smtClean="0"/>
              <a:t>Insights</a:t>
            </a:r>
            <a:r>
              <a:rPr lang="en-US" dirty="0" smtClean="0"/>
              <a:t>:</a:t>
            </a:r>
          </a:p>
          <a:p>
            <a:pPr>
              <a:buFont typeface="Arial" pitchFamily="34" charset="0"/>
              <a:buChar char="•"/>
            </a:pPr>
            <a:r>
              <a:rPr lang="en-US" dirty="0" smtClean="0"/>
              <a:t> Higher fuel efficiency in urban settings tend to also be more efficient in extra-urban and overall conditions.</a:t>
            </a:r>
          </a:p>
          <a:p>
            <a:pPr>
              <a:buFont typeface="Arial" pitchFamily="34" charset="0"/>
              <a:buChar char="•"/>
            </a:pPr>
            <a:r>
              <a:rPr lang="en-US" dirty="0" smtClean="0"/>
              <a:t> Newer vehicles tend to comply with more stringent emission standards.</a:t>
            </a:r>
          </a:p>
          <a:p>
            <a:pPr>
              <a:buFont typeface="Arial" pitchFamily="34" charset="0"/>
              <a:buChar char="•"/>
            </a:pPr>
            <a:r>
              <a:rPr lang="en-US" dirty="0" smtClean="0"/>
              <a:t> As fuel efficiency improves, CO2 emissions tend to decrease.</a:t>
            </a:r>
          </a:p>
          <a:p>
            <a:pPr>
              <a:buFont typeface="Arial" pitchFamily="34" charset="0"/>
              <a:buChar char="•"/>
            </a:pPr>
            <a:r>
              <a:rPr lang="en-US" dirty="0" smtClean="0"/>
              <a:t> 'co2' shows '</a:t>
            </a:r>
            <a:r>
              <a:rPr lang="en-US" dirty="0" err="1" smtClean="0"/>
              <a:t>combined_imperial</a:t>
            </a:r>
            <a:r>
              <a:rPr lang="en-US" dirty="0" smtClean="0"/>
              <a:t>', '</a:t>
            </a:r>
            <a:r>
              <a:rPr lang="en-US" dirty="0" err="1" smtClean="0"/>
              <a:t>extra_urban_imperial</a:t>
            </a:r>
            <a:r>
              <a:rPr lang="en-US" dirty="0" smtClean="0"/>
              <a:t>', and '</a:t>
            </a:r>
            <a:r>
              <a:rPr lang="en-US" dirty="0" err="1" smtClean="0"/>
              <a:t>urban_imperial</a:t>
            </a:r>
            <a:r>
              <a:rPr lang="en-US" dirty="0" smtClean="0"/>
              <a:t>' as having the strongest negative correlations.</a:t>
            </a:r>
          </a:p>
          <a:p>
            <a:pPr>
              <a:buFont typeface="Arial" pitchFamily="34" charset="0"/>
              <a:buChar char="•"/>
            </a:pPr>
            <a:r>
              <a:rPr lang="en-US" dirty="0" smtClean="0"/>
              <a:t> High </a:t>
            </a:r>
            <a:r>
              <a:rPr lang="en-US" dirty="0" err="1" smtClean="0"/>
              <a:t>multicollinearity</a:t>
            </a:r>
            <a:r>
              <a:rPr lang="en-US" dirty="0" smtClean="0"/>
              <a:t>, such as ('year', '</a:t>
            </a:r>
            <a:r>
              <a:rPr lang="en-US" dirty="0" err="1" smtClean="0"/>
              <a:t>euro_standard</a:t>
            </a:r>
            <a:r>
              <a:rPr lang="en-US" dirty="0" smtClean="0"/>
              <a:t>') and the fuel efficiency metrics-problematic in predictive modeling due to redundancy.</a:t>
            </a:r>
          </a:p>
          <a:p>
            <a:pPr>
              <a:buFont typeface="Arial" pitchFamily="34" charset="0"/>
              <a:buChar char="•"/>
            </a:pPr>
            <a:endParaRPr lang="en-US" dirty="0"/>
          </a:p>
        </p:txBody>
      </p:sp>
    </p:spTree>
    <p:extLst>
      <p:ext uri="{BB962C8B-B14F-4D97-AF65-F5344CB8AC3E}">
        <p14:creationId xmlns="" xmlns:p14="http://schemas.microsoft.com/office/powerpoint/2010/main" val="2771128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a:t>
            </a:r>
            <a:endParaRPr lang="en-US" dirty="0"/>
          </a:p>
        </p:txBody>
      </p:sp>
      <p:sp>
        <p:nvSpPr>
          <p:cNvPr id="3" name="Text Placeholder 2"/>
          <p:cNvSpPr>
            <a:spLocks noGrp="1"/>
          </p:cNvSpPr>
          <p:nvPr>
            <p:ph type="body" idx="1"/>
          </p:nvPr>
        </p:nvSpPr>
        <p:spPr/>
        <p:txBody>
          <a:bodyPr/>
          <a:lstStyle/>
          <a:p>
            <a:r>
              <a:rPr lang="en-US" sz="1400" dirty="0" smtClean="0">
                <a:solidFill>
                  <a:schemeClr val="tx1"/>
                </a:solidFill>
              </a:rPr>
              <a:t>ear (-0.3274): This negative correlation indicates that newer vehicles (higher 'year') tend to have lower CO2 emissions. This could be due to advancements in technology, more efficient engines, and stricter emission standards in newer models</a:t>
            </a:r>
            <a:r>
              <a:rPr lang="en-US" sz="1400" dirty="0" smtClean="0"/>
              <a:t>.</a:t>
            </a:r>
          </a:p>
          <a:p>
            <a:endParaRPr lang="en-US" sz="1400" dirty="0" smtClean="0"/>
          </a:p>
          <a:p>
            <a:r>
              <a:rPr lang="en-US" sz="1400" dirty="0" smtClean="0">
                <a:solidFill>
                  <a:schemeClr val="tx1"/>
                </a:solidFill>
              </a:rPr>
              <a:t>Euro Standard (-0.3289): Similar to 'year', the negative correlation here suggests that vehicles conforming to higher Euro standards (which are stricter in terms of emissions) are associated with lower CO2 emissions. This aligns with the objective of these standards to reduce vehicle emissions</a:t>
            </a:r>
            <a:r>
              <a:rPr lang="en-US" sz="1400" dirty="0" smtClean="0"/>
              <a:t>.</a:t>
            </a:r>
          </a:p>
          <a:p>
            <a:endParaRPr lang="en-US" sz="1400" dirty="0" smtClean="0"/>
          </a:p>
          <a:p>
            <a:r>
              <a:rPr lang="en-US" sz="1400" dirty="0" smtClean="0">
                <a:solidFill>
                  <a:schemeClr val="tx1"/>
                </a:solidFill>
              </a:rPr>
              <a:t>Engine Capacity (0.7974): A strong positive correlation indicates that larger engine capacities are associated with higher CO2 emissions. This is expected, as larger engines typically consume more fuel</a:t>
            </a:r>
            <a:r>
              <a:rPr lang="en-US" sz="1400" dirty="0" smtClean="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a:t>
            </a:r>
            <a:endParaRPr lang="en-US" dirty="0"/>
          </a:p>
        </p:txBody>
      </p:sp>
      <p:sp>
        <p:nvSpPr>
          <p:cNvPr id="3" name="Text Placeholder 2"/>
          <p:cNvSpPr>
            <a:spLocks noGrp="1"/>
          </p:cNvSpPr>
          <p:nvPr>
            <p:ph type="body" idx="1"/>
          </p:nvPr>
        </p:nvSpPr>
        <p:spPr/>
        <p:txBody>
          <a:bodyPr/>
          <a:lstStyle/>
          <a:p>
            <a:r>
              <a:rPr lang="en-US" sz="1400" dirty="0" smtClean="0">
                <a:solidFill>
                  <a:schemeClr val="tx1"/>
                </a:solidFill>
              </a:rPr>
              <a:t>Noise Level (0.2518): This positive but weaker correlation suggests a mild association between higher noise levels and higher CO2 emissions. This might reflect larger or more powerful engines that both emit more noise and CO2.</a:t>
            </a:r>
          </a:p>
          <a:p>
            <a:endParaRPr lang="en-US" sz="1400" dirty="0" smtClean="0">
              <a:solidFill>
                <a:schemeClr val="tx1"/>
              </a:solidFill>
            </a:endParaRPr>
          </a:p>
          <a:p>
            <a:r>
              <a:rPr lang="en-US" sz="1400" dirty="0" smtClean="0">
                <a:solidFill>
                  <a:schemeClr val="tx1"/>
                </a:solidFill>
              </a:rPr>
              <a:t>Urban Imperial (-0.8614), Extra Urban Imperial (-0.8985), Combined Imperial (-0.8854): These strong negative correlations indicate that higher fuel efficiency (measured in miles per gallon in urban, extra-urban, and combined settings) corresponds to lower CO2 emissions. This is logical as more fuel-efficient vehicles use less fuel for the same distance and thus emit less CO2.</a:t>
            </a:r>
          </a:p>
          <a:p>
            <a:endParaRPr lang="en-US" sz="1400" dirty="0" smtClean="0">
              <a:solidFill>
                <a:schemeClr val="tx1"/>
              </a:solidFill>
            </a:endParaRPr>
          </a:p>
          <a:p>
            <a:r>
              <a:rPr lang="en-US" sz="1400" dirty="0" smtClean="0">
                <a:solidFill>
                  <a:schemeClr val="tx1"/>
                </a:solidFill>
              </a:rPr>
              <a:t>The values indicate that engine capacity and fuel efficiency metrics are particularly strong predictors of CO2 emissions. The 'year' and '</a:t>
            </a:r>
            <a:r>
              <a:rPr lang="en-US" sz="1400" dirty="0" err="1" smtClean="0">
                <a:solidFill>
                  <a:schemeClr val="tx1"/>
                </a:solidFill>
              </a:rPr>
              <a:t>euro_standard</a:t>
            </a:r>
            <a:r>
              <a:rPr lang="en-US" sz="1400" dirty="0" smtClean="0">
                <a:solidFill>
                  <a:schemeClr val="tx1"/>
                </a:solidFill>
              </a:rPr>
              <a:t>' also play significant roles, reflecting changes in vehicle technology and regulations over time.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B8C883-A7B7-FD93-9ACD-A3437B39CD5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Machine Learning Models </a:t>
            </a:r>
          </a:p>
        </p:txBody>
      </p:sp>
      <p:sp>
        <p:nvSpPr>
          <p:cNvPr id="3" name="Text Placeholder 2">
            <a:extLst>
              <a:ext uri="{FF2B5EF4-FFF2-40B4-BE49-F238E27FC236}">
                <a16:creationId xmlns="" xmlns:a16="http://schemas.microsoft.com/office/drawing/2014/main" id="{5E16335C-9FBA-DEE5-91B6-B5731599D083}"/>
              </a:ext>
            </a:extLst>
          </p:cNvPr>
          <p:cNvSpPr>
            <a:spLocks noGrp="1"/>
          </p:cNvSpPr>
          <p:nvPr>
            <p:ph type="body" idx="1"/>
          </p:nvPr>
        </p:nvSpPr>
        <p:spPr>
          <a:xfrm>
            <a:off x="311700" y="1619690"/>
            <a:ext cx="8520600" cy="3416400"/>
          </a:xfrm>
        </p:spPr>
        <p:txBody>
          <a:bodyPr/>
          <a:lstStyle/>
          <a:p>
            <a:r>
              <a:rPr lang="en-US" dirty="0"/>
              <a:t>Logistic Regression</a:t>
            </a:r>
          </a:p>
          <a:p>
            <a:r>
              <a:rPr lang="en-US" dirty="0"/>
              <a:t>Support Vector Machine</a:t>
            </a:r>
          </a:p>
          <a:p>
            <a:r>
              <a:rPr lang="en-US" dirty="0"/>
              <a:t>Multinomial Naive Bayes </a:t>
            </a:r>
          </a:p>
          <a:p>
            <a:r>
              <a:rPr lang="en-US" dirty="0"/>
              <a:t>Decision Trees</a:t>
            </a:r>
          </a:p>
          <a:p>
            <a:r>
              <a:rPr lang="en-US" dirty="0"/>
              <a:t>Random Forest </a:t>
            </a:r>
          </a:p>
          <a:p>
            <a:r>
              <a:rPr lang="en-US" dirty="0"/>
              <a:t>Gradient Boost </a:t>
            </a:r>
          </a:p>
          <a:p>
            <a:r>
              <a:rPr lang="en-US" dirty="0"/>
              <a:t>Stacking classifier </a:t>
            </a:r>
          </a:p>
          <a:p>
            <a:pPr marL="114300" indent="0">
              <a:buNone/>
            </a:pPr>
            <a:endParaRPr lang="en-US" dirty="0"/>
          </a:p>
        </p:txBody>
      </p:sp>
    </p:spTree>
    <p:extLst>
      <p:ext uri="{BB962C8B-B14F-4D97-AF65-F5344CB8AC3E}">
        <p14:creationId xmlns="" xmlns:p14="http://schemas.microsoft.com/office/powerpoint/2010/main" val="244145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010E0A-1D90-DEEA-46DA-037F2B799F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Logistic Regression</a:t>
            </a:r>
          </a:p>
        </p:txBody>
      </p:sp>
      <p:pic>
        <p:nvPicPr>
          <p:cNvPr id="5" name="Picture 4" descr="A screenshot of a report&#10;&#10;Description automatically generated">
            <a:extLst>
              <a:ext uri="{FF2B5EF4-FFF2-40B4-BE49-F238E27FC236}">
                <a16:creationId xmlns="" xmlns:a16="http://schemas.microsoft.com/office/drawing/2014/main" id="{84677067-994B-F7CC-3F04-4E68D41D1D93}"/>
              </a:ext>
            </a:extLst>
          </p:cNvPr>
          <p:cNvPicPr>
            <a:picLocks noChangeAspect="1"/>
          </p:cNvPicPr>
          <p:nvPr/>
        </p:nvPicPr>
        <p:blipFill>
          <a:blip r:embed="rId2"/>
          <a:stretch>
            <a:fillRect/>
          </a:stretch>
        </p:blipFill>
        <p:spPr>
          <a:xfrm>
            <a:off x="4572000" y="1109272"/>
            <a:ext cx="3995758" cy="3723904"/>
          </a:xfrm>
          <a:prstGeom prst="rect">
            <a:avLst/>
          </a:prstGeom>
        </p:spPr>
      </p:pic>
    </p:spTree>
    <p:extLst>
      <p:ext uri="{BB962C8B-B14F-4D97-AF65-F5344CB8AC3E}">
        <p14:creationId xmlns="" xmlns:p14="http://schemas.microsoft.com/office/powerpoint/2010/main" val="2842928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43FF7F-7404-D158-671A-ABD499F4D8A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Support Vector Machine</a:t>
            </a:r>
          </a:p>
        </p:txBody>
      </p:sp>
      <p:pic>
        <p:nvPicPr>
          <p:cNvPr id="5" name="Picture 4" descr="A screenshot of a computer screen&#10;&#10;Description automatically generated">
            <a:extLst>
              <a:ext uri="{FF2B5EF4-FFF2-40B4-BE49-F238E27FC236}">
                <a16:creationId xmlns="" xmlns:a16="http://schemas.microsoft.com/office/drawing/2014/main" id="{BD2D5259-9435-43B6-29E3-D3B53E28AD5E}"/>
              </a:ext>
            </a:extLst>
          </p:cNvPr>
          <p:cNvPicPr>
            <a:picLocks noChangeAspect="1"/>
          </p:cNvPicPr>
          <p:nvPr/>
        </p:nvPicPr>
        <p:blipFill>
          <a:blip r:embed="rId2"/>
          <a:stretch>
            <a:fillRect/>
          </a:stretch>
        </p:blipFill>
        <p:spPr>
          <a:xfrm>
            <a:off x="311700" y="1221286"/>
            <a:ext cx="3352320" cy="3922214"/>
          </a:xfrm>
          <a:prstGeom prst="rect">
            <a:avLst/>
          </a:prstGeom>
        </p:spPr>
      </p:pic>
      <p:pic>
        <p:nvPicPr>
          <p:cNvPr id="7" name="Picture 6" descr="A screenshot of a computer screen&#10;&#10;Description automatically generated">
            <a:extLst>
              <a:ext uri="{FF2B5EF4-FFF2-40B4-BE49-F238E27FC236}">
                <a16:creationId xmlns="" xmlns:a16="http://schemas.microsoft.com/office/drawing/2014/main" id="{E0C229E5-B7E3-E223-8542-1C18FB3EDCE3}"/>
              </a:ext>
            </a:extLst>
          </p:cNvPr>
          <p:cNvPicPr>
            <a:picLocks noChangeAspect="1"/>
          </p:cNvPicPr>
          <p:nvPr/>
        </p:nvPicPr>
        <p:blipFill>
          <a:blip r:embed="rId3"/>
          <a:stretch>
            <a:fillRect/>
          </a:stretch>
        </p:blipFill>
        <p:spPr>
          <a:xfrm>
            <a:off x="4447794" y="1221286"/>
            <a:ext cx="3750634" cy="3922214"/>
          </a:xfrm>
          <a:prstGeom prst="rect">
            <a:avLst/>
          </a:prstGeom>
        </p:spPr>
      </p:pic>
      <p:sp>
        <p:nvSpPr>
          <p:cNvPr id="8" name="TextBox 7">
            <a:extLst>
              <a:ext uri="{FF2B5EF4-FFF2-40B4-BE49-F238E27FC236}">
                <a16:creationId xmlns="" xmlns:a16="http://schemas.microsoft.com/office/drawing/2014/main" id="{8E557103-BB31-9883-6974-B0A4465F576F}"/>
              </a:ext>
            </a:extLst>
          </p:cNvPr>
          <p:cNvSpPr txBox="1"/>
          <p:nvPr/>
        </p:nvSpPr>
        <p:spPr>
          <a:xfrm>
            <a:off x="4969239" y="782211"/>
            <a:ext cx="2491388" cy="307777"/>
          </a:xfrm>
          <a:prstGeom prst="rect">
            <a:avLst/>
          </a:prstGeom>
          <a:noFill/>
        </p:spPr>
        <p:txBody>
          <a:bodyPr wrap="none" rtlCol="0">
            <a:spAutoFit/>
          </a:bodyPr>
          <a:lstStyle/>
          <a:p>
            <a:r>
              <a:rPr lang="en-US" dirty="0"/>
              <a:t>After Hyper parameter tuning</a:t>
            </a:r>
          </a:p>
        </p:txBody>
      </p:sp>
    </p:spTree>
    <p:extLst>
      <p:ext uri="{BB962C8B-B14F-4D97-AF65-F5344CB8AC3E}">
        <p14:creationId xmlns="" xmlns:p14="http://schemas.microsoft.com/office/powerpoint/2010/main" val="1200306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A5C5F0-1233-2465-3B76-F23C7523439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Multinomial Naive Bayes </a:t>
            </a:r>
          </a:p>
        </p:txBody>
      </p:sp>
      <p:pic>
        <p:nvPicPr>
          <p:cNvPr id="5" name="Picture 4" descr="A screenshot of a test results&#10;&#10;Description automatically generated">
            <a:extLst>
              <a:ext uri="{FF2B5EF4-FFF2-40B4-BE49-F238E27FC236}">
                <a16:creationId xmlns="" xmlns:a16="http://schemas.microsoft.com/office/drawing/2014/main" id="{176906EA-F1EB-CF1B-C52B-ABD8CFE3B1A6}"/>
              </a:ext>
            </a:extLst>
          </p:cNvPr>
          <p:cNvPicPr>
            <a:picLocks noChangeAspect="1"/>
          </p:cNvPicPr>
          <p:nvPr/>
        </p:nvPicPr>
        <p:blipFill>
          <a:blip r:embed="rId2"/>
          <a:stretch>
            <a:fillRect/>
          </a:stretch>
        </p:blipFill>
        <p:spPr>
          <a:xfrm>
            <a:off x="378718" y="1222450"/>
            <a:ext cx="3250785" cy="3921050"/>
          </a:xfrm>
          <a:prstGeom prst="rect">
            <a:avLst/>
          </a:prstGeom>
        </p:spPr>
      </p:pic>
      <p:pic>
        <p:nvPicPr>
          <p:cNvPr id="9" name="Picture 8" descr="A screenshot of a computer screen&#10;&#10;Description automatically generated">
            <a:extLst>
              <a:ext uri="{FF2B5EF4-FFF2-40B4-BE49-F238E27FC236}">
                <a16:creationId xmlns="" xmlns:a16="http://schemas.microsoft.com/office/drawing/2014/main" id="{81A616CF-53B3-8A35-073B-CC2003BC43C8}"/>
              </a:ext>
            </a:extLst>
          </p:cNvPr>
          <p:cNvPicPr>
            <a:picLocks noChangeAspect="1"/>
          </p:cNvPicPr>
          <p:nvPr/>
        </p:nvPicPr>
        <p:blipFill>
          <a:blip r:embed="rId3"/>
          <a:stretch>
            <a:fillRect/>
          </a:stretch>
        </p:blipFill>
        <p:spPr>
          <a:xfrm>
            <a:off x="4414237" y="1222449"/>
            <a:ext cx="3633329" cy="3921051"/>
          </a:xfrm>
          <a:prstGeom prst="rect">
            <a:avLst/>
          </a:prstGeom>
        </p:spPr>
      </p:pic>
      <p:sp>
        <p:nvSpPr>
          <p:cNvPr id="10" name="TextBox 9">
            <a:extLst>
              <a:ext uri="{FF2B5EF4-FFF2-40B4-BE49-F238E27FC236}">
                <a16:creationId xmlns="" xmlns:a16="http://schemas.microsoft.com/office/drawing/2014/main" id="{A27C9BBC-7834-2A05-60E0-E24B75A06E0B}"/>
              </a:ext>
            </a:extLst>
          </p:cNvPr>
          <p:cNvSpPr txBox="1"/>
          <p:nvPr/>
        </p:nvSpPr>
        <p:spPr>
          <a:xfrm>
            <a:off x="4969239" y="782211"/>
            <a:ext cx="2491388" cy="307777"/>
          </a:xfrm>
          <a:prstGeom prst="rect">
            <a:avLst/>
          </a:prstGeom>
          <a:noFill/>
        </p:spPr>
        <p:txBody>
          <a:bodyPr wrap="none" rtlCol="0">
            <a:spAutoFit/>
          </a:bodyPr>
          <a:lstStyle/>
          <a:p>
            <a:r>
              <a:rPr lang="en-US" dirty="0"/>
              <a:t>After Hyper parameter tuning</a:t>
            </a:r>
          </a:p>
        </p:txBody>
      </p:sp>
    </p:spTree>
    <p:extLst>
      <p:ext uri="{BB962C8B-B14F-4D97-AF65-F5344CB8AC3E}">
        <p14:creationId xmlns="" xmlns:p14="http://schemas.microsoft.com/office/powerpoint/2010/main" val="2189805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0D6B1B-8D73-658E-DD00-BBBCEC4A942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Decision Tree Classifier </a:t>
            </a:r>
          </a:p>
        </p:txBody>
      </p:sp>
      <p:pic>
        <p:nvPicPr>
          <p:cNvPr id="9" name="Picture 8" descr="A screenshot of a report&#10;&#10;Description automatically generated">
            <a:extLst>
              <a:ext uri="{FF2B5EF4-FFF2-40B4-BE49-F238E27FC236}">
                <a16:creationId xmlns="" xmlns:a16="http://schemas.microsoft.com/office/drawing/2014/main" id="{AB095AFC-9433-61A8-D229-CA5170146AFE}"/>
              </a:ext>
            </a:extLst>
          </p:cNvPr>
          <p:cNvPicPr>
            <a:picLocks noChangeAspect="1"/>
          </p:cNvPicPr>
          <p:nvPr/>
        </p:nvPicPr>
        <p:blipFill>
          <a:blip r:embed="rId2"/>
          <a:stretch>
            <a:fillRect/>
          </a:stretch>
        </p:blipFill>
        <p:spPr>
          <a:xfrm>
            <a:off x="116829" y="1222450"/>
            <a:ext cx="3900536" cy="3921050"/>
          </a:xfrm>
          <a:prstGeom prst="rect">
            <a:avLst/>
          </a:prstGeom>
        </p:spPr>
      </p:pic>
      <p:pic>
        <p:nvPicPr>
          <p:cNvPr id="11" name="Picture 10" descr="A screenshot of a graph&#10;&#10;Description automatically generated">
            <a:extLst>
              <a:ext uri="{FF2B5EF4-FFF2-40B4-BE49-F238E27FC236}">
                <a16:creationId xmlns="" xmlns:a16="http://schemas.microsoft.com/office/drawing/2014/main" id="{18349401-0F59-2E64-D2FA-22D3052029CF}"/>
              </a:ext>
            </a:extLst>
          </p:cNvPr>
          <p:cNvPicPr>
            <a:picLocks noChangeAspect="1"/>
          </p:cNvPicPr>
          <p:nvPr/>
        </p:nvPicPr>
        <p:blipFill>
          <a:blip r:embed="rId3"/>
          <a:stretch>
            <a:fillRect/>
          </a:stretch>
        </p:blipFill>
        <p:spPr>
          <a:xfrm>
            <a:off x="4212237" y="1282410"/>
            <a:ext cx="3900536" cy="3861090"/>
          </a:xfrm>
          <a:prstGeom prst="rect">
            <a:avLst/>
          </a:prstGeom>
        </p:spPr>
      </p:pic>
      <p:sp>
        <p:nvSpPr>
          <p:cNvPr id="12" name="TextBox 11">
            <a:extLst>
              <a:ext uri="{FF2B5EF4-FFF2-40B4-BE49-F238E27FC236}">
                <a16:creationId xmlns="" xmlns:a16="http://schemas.microsoft.com/office/drawing/2014/main" id="{2EB39627-3CB1-C9B8-2377-960F5DFAD99C}"/>
              </a:ext>
            </a:extLst>
          </p:cNvPr>
          <p:cNvSpPr txBox="1"/>
          <p:nvPr/>
        </p:nvSpPr>
        <p:spPr>
          <a:xfrm>
            <a:off x="4969239" y="782211"/>
            <a:ext cx="2491388" cy="307777"/>
          </a:xfrm>
          <a:prstGeom prst="rect">
            <a:avLst/>
          </a:prstGeom>
          <a:noFill/>
        </p:spPr>
        <p:txBody>
          <a:bodyPr wrap="none" rtlCol="0">
            <a:spAutoFit/>
          </a:bodyPr>
          <a:lstStyle/>
          <a:p>
            <a:r>
              <a:rPr lang="en-US" dirty="0"/>
              <a:t>After Hyper parameter tuning</a:t>
            </a:r>
          </a:p>
        </p:txBody>
      </p:sp>
    </p:spTree>
    <p:extLst>
      <p:ext uri="{BB962C8B-B14F-4D97-AF65-F5344CB8AC3E}">
        <p14:creationId xmlns="" xmlns:p14="http://schemas.microsoft.com/office/powerpoint/2010/main" val="2031712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4D922E-A859-9C24-1E52-F76907BFF45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Random Forest Classifier </a:t>
            </a:r>
          </a:p>
        </p:txBody>
      </p:sp>
      <p:pic>
        <p:nvPicPr>
          <p:cNvPr id="5" name="Picture 4" descr="A screenshot of a computer&#10;&#10;Description automatically generated">
            <a:extLst>
              <a:ext uri="{FF2B5EF4-FFF2-40B4-BE49-F238E27FC236}">
                <a16:creationId xmlns="" xmlns:a16="http://schemas.microsoft.com/office/drawing/2014/main" id="{927AC1AE-E6E0-CC09-F022-FC2FA265E49A}"/>
              </a:ext>
            </a:extLst>
          </p:cNvPr>
          <p:cNvPicPr>
            <a:picLocks noChangeAspect="1"/>
          </p:cNvPicPr>
          <p:nvPr/>
        </p:nvPicPr>
        <p:blipFill>
          <a:blip r:embed="rId2"/>
          <a:stretch>
            <a:fillRect/>
          </a:stretch>
        </p:blipFill>
        <p:spPr>
          <a:xfrm>
            <a:off x="1" y="1222450"/>
            <a:ext cx="4279692" cy="3921050"/>
          </a:xfrm>
          <a:prstGeom prst="rect">
            <a:avLst/>
          </a:prstGeom>
        </p:spPr>
      </p:pic>
      <p:pic>
        <p:nvPicPr>
          <p:cNvPr id="7" name="Picture 6" descr="A screenshot of a computer&#10;&#10;Description automatically generated">
            <a:extLst>
              <a:ext uri="{FF2B5EF4-FFF2-40B4-BE49-F238E27FC236}">
                <a16:creationId xmlns="" xmlns:a16="http://schemas.microsoft.com/office/drawing/2014/main" id="{0F99BF61-9342-5F54-54FC-925ABF702E94}"/>
              </a:ext>
            </a:extLst>
          </p:cNvPr>
          <p:cNvPicPr>
            <a:picLocks noChangeAspect="1"/>
          </p:cNvPicPr>
          <p:nvPr/>
        </p:nvPicPr>
        <p:blipFill>
          <a:blip r:embed="rId3"/>
          <a:stretch>
            <a:fillRect/>
          </a:stretch>
        </p:blipFill>
        <p:spPr>
          <a:xfrm>
            <a:off x="4169629" y="1222450"/>
            <a:ext cx="4035936" cy="3921050"/>
          </a:xfrm>
          <a:prstGeom prst="rect">
            <a:avLst/>
          </a:prstGeom>
        </p:spPr>
      </p:pic>
      <p:sp>
        <p:nvSpPr>
          <p:cNvPr id="8" name="TextBox 7">
            <a:extLst>
              <a:ext uri="{FF2B5EF4-FFF2-40B4-BE49-F238E27FC236}">
                <a16:creationId xmlns="" xmlns:a16="http://schemas.microsoft.com/office/drawing/2014/main" id="{2F3E84C4-4AEC-FE0B-9D2D-168CDA8ECDAA}"/>
              </a:ext>
            </a:extLst>
          </p:cNvPr>
          <p:cNvSpPr txBox="1"/>
          <p:nvPr/>
        </p:nvSpPr>
        <p:spPr>
          <a:xfrm>
            <a:off x="4969239" y="782211"/>
            <a:ext cx="2491388" cy="307777"/>
          </a:xfrm>
          <a:prstGeom prst="rect">
            <a:avLst/>
          </a:prstGeom>
          <a:noFill/>
        </p:spPr>
        <p:txBody>
          <a:bodyPr wrap="none" rtlCol="0">
            <a:spAutoFit/>
          </a:bodyPr>
          <a:lstStyle/>
          <a:p>
            <a:r>
              <a:rPr lang="en-US" dirty="0"/>
              <a:t>After Hyper parameter tuning</a:t>
            </a:r>
          </a:p>
        </p:txBody>
      </p:sp>
    </p:spTree>
    <p:extLst>
      <p:ext uri="{BB962C8B-B14F-4D97-AF65-F5344CB8AC3E}">
        <p14:creationId xmlns="" xmlns:p14="http://schemas.microsoft.com/office/powerpoint/2010/main" val="3996613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B00FD8-38BE-F1CD-09D4-E29EC05BBBE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Gradient Boosting Classifier </a:t>
            </a:r>
          </a:p>
        </p:txBody>
      </p:sp>
      <p:pic>
        <p:nvPicPr>
          <p:cNvPr id="5" name="Picture 4" descr="A screenshot of a computer&#10;&#10;Description automatically generated">
            <a:extLst>
              <a:ext uri="{FF2B5EF4-FFF2-40B4-BE49-F238E27FC236}">
                <a16:creationId xmlns="" xmlns:a16="http://schemas.microsoft.com/office/drawing/2014/main" id="{1EEBF16F-88AF-73C3-08CA-CD037CDA5A6B}"/>
              </a:ext>
            </a:extLst>
          </p:cNvPr>
          <p:cNvPicPr>
            <a:picLocks noChangeAspect="1"/>
          </p:cNvPicPr>
          <p:nvPr/>
        </p:nvPicPr>
        <p:blipFill>
          <a:blip r:embed="rId2"/>
          <a:stretch>
            <a:fillRect/>
          </a:stretch>
        </p:blipFill>
        <p:spPr>
          <a:xfrm>
            <a:off x="0" y="1222450"/>
            <a:ext cx="4122295" cy="3921049"/>
          </a:xfrm>
          <a:prstGeom prst="rect">
            <a:avLst/>
          </a:prstGeom>
        </p:spPr>
      </p:pic>
      <p:pic>
        <p:nvPicPr>
          <p:cNvPr id="7" name="Picture 6" descr="A screenshot of a computer&#10;&#10;Description automatically generated">
            <a:extLst>
              <a:ext uri="{FF2B5EF4-FFF2-40B4-BE49-F238E27FC236}">
                <a16:creationId xmlns="" xmlns:a16="http://schemas.microsoft.com/office/drawing/2014/main" id="{A2523DC1-09C4-74C1-E5D5-F14C038BC57D}"/>
              </a:ext>
            </a:extLst>
          </p:cNvPr>
          <p:cNvPicPr>
            <a:picLocks noChangeAspect="1"/>
          </p:cNvPicPr>
          <p:nvPr/>
        </p:nvPicPr>
        <p:blipFill>
          <a:blip r:embed="rId3"/>
          <a:stretch>
            <a:fillRect/>
          </a:stretch>
        </p:blipFill>
        <p:spPr>
          <a:xfrm>
            <a:off x="4295248" y="1222450"/>
            <a:ext cx="3875305" cy="3921050"/>
          </a:xfrm>
          <a:prstGeom prst="rect">
            <a:avLst/>
          </a:prstGeom>
        </p:spPr>
      </p:pic>
      <p:sp>
        <p:nvSpPr>
          <p:cNvPr id="8" name="TextBox 7">
            <a:extLst>
              <a:ext uri="{FF2B5EF4-FFF2-40B4-BE49-F238E27FC236}">
                <a16:creationId xmlns="" xmlns:a16="http://schemas.microsoft.com/office/drawing/2014/main" id="{5599B4C7-150A-D478-A352-109053A24095}"/>
              </a:ext>
            </a:extLst>
          </p:cNvPr>
          <p:cNvSpPr txBox="1"/>
          <p:nvPr/>
        </p:nvSpPr>
        <p:spPr>
          <a:xfrm>
            <a:off x="5126636" y="782211"/>
            <a:ext cx="2491388" cy="307777"/>
          </a:xfrm>
          <a:prstGeom prst="rect">
            <a:avLst/>
          </a:prstGeom>
          <a:noFill/>
        </p:spPr>
        <p:txBody>
          <a:bodyPr wrap="none" rtlCol="0">
            <a:spAutoFit/>
          </a:bodyPr>
          <a:lstStyle/>
          <a:p>
            <a:r>
              <a:rPr lang="en-US" dirty="0"/>
              <a:t>After Hyper parameter tuning</a:t>
            </a:r>
          </a:p>
        </p:txBody>
      </p:sp>
    </p:spTree>
    <p:extLst>
      <p:ext uri="{BB962C8B-B14F-4D97-AF65-F5344CB8AC3E}">
        <p14:creationId xmlns="" xmlns:p14="http://schemas.microsoft.com/office/powerpoint/2010/main" val="2090023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9A3A81-B03C-9FBD-4A00-BA67B31A574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Stacking Classifier </a:t>
            </a:r>
          </a:p>
        </p:txBody>
      </p:sp>
      <p:pic>
        <p:nvPicPr>
          <p:cNvPr id="5" name="Picture 4" descr="A screenshot of a graph&#10;&#10;Description automatically generated">
            <a:extLst>
              <a:ext uri="{FF2B5EF4-FFF2-40B4-BE49-F238E27FC236}">
                <a16:creationId xmlns="" xmlns:a16="http://schemas.microsoft.com/office/drawing/2014/main" id="{03C50822-4961-95CA-ACE9-D6D3CC0E256F}"/>
              </a:ext>
            </a:extLst>
          </p:cNvPr>
          <p:cNvPicPr>
            <a:picLocks noChangeAspect="1"/>
          </p:cNvPicPr>
          <p:nvPr/>
        </p:nvPicPr>
        <p:blipFill>
          <a:blip r:embed="rId2"/>
          <a:stretch>
            <a:fillRect/>
          </a:stretch>
        </p:blipFill>
        <p:spPr>
          <a:xfrm>
            <a:off x="4646952" y="759958"/>
            <a:ext cx="3977272" cy="4053758"/>
          </a:xfrm>
          <a:prstGeom prst="rect">
            <a:avLst/>
          </a:prstGeom>
        </p:spPr>
      </p:pic>
    </p:spTree>
    <p:extLst>
      <p:ext uri="{BB962C8B-B14F-4D97-AF65-F5344CB8AC3E}">
        <p14:creationId xmlns="" xmlns:p14="http://schemas.microsoft.com/office/powerpoint/2010/main" val="312196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A0E542-A263-647E-D302-90CBBAF3983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Comparison Table</a:t>
            </a:r>
          </a:p>
        </p:txBody>
      </p:sp>
      <p:graphicFrame>
        <p:nvGraphicFramePr>
          <p:cNvPr id="6" name="Table 5">
            <a:extLst>
              <a:ext uri="{FF2B5EF4-FFF2-40B4-BE49-F238E27FC236}">
                <a16:creationId xmlns="" xmlns:a16="http://schemas.microsoft.com/office/drawing/2014/main" id="{2B6FA2B0-73E1-C895-5C61-F5291A2F8F5B}"/>
              </a:ext>
            </a:extLst>
          </p:cNvPr>
          <p:cNvGraphicFramePr>
            <a:graphicFrameLocks noGrp="1"/>
          </p:cNvGraphicFramePr>
          <p:nvPr>
            <p:extLst>
              <p:ext uri="{D42A27DB-BD31-4B8C-83A1-F6EECF244321}">
                <p14:modId xmlns="" xmlns:p14="http://schemas.microsoft.com/office/powerpoint/2010/main" val="4075045911"/>
              </p:ext>
            </p:extLst>
          </p:nvPr>
        </p:nvGraphicFramePr>
        <p:xfrm>
          <a:off x="124324" y="1222450"/>
          <a:ext cx="8112772" cy="3856438"/>
        </p:xfrm>
        <a:graphic>
          <a:graphicData uri="http://schemas.openxmlformats.org/drawingml/2006/table">
            <a:tbl>
              <a:tblPr firstRow="1" bandRow="1">
                <a:tableStyleId>{5C22544A-7EE6-4342-B048-85BDC9FD1C3A}</a:tableStyleId>
              </a:tblPr>
              <a:tblGrid>
                <a:gridCol w="1052404">
                  <a:extLst>
                    <a:ext uri="{9D8B030D-6E8A-4147-A177-3AD203B41FA5}">
                      <a16:colId xmlns="" xmlns:a16="http://schemas.microsoft.com/office/drawing/2014/main" val="1183834449"/>
                    </a:ext>
                  </a:extLst>
                </a:gridCol>
                <a:gridCol w="1169233">
                  <a:extLst>
                    <a:ext uri="{9D8B030D-6E8A-4147-A177-3AD203B41FA5}">
                      <a16:colId xmlns="" xmlns:a16="http://schemas.microsoft.com/office/drawing/2014/main" val="3304174718"/>
                    </a:ext>
                  </a:extLst>
                </a:gridCol>
                <a:gridCol w="734518">
                  <a:extLst>
                    <a:ext uri="{9D8B030D-6E8A-4147-A177-3AD203B41FA5}">
                      <a16:colId xmlns="" xmlns:a16="http://schemas.microsoft.com/office/drawing/2014/main" val="2466791126"/>
                    </a:ext>
                  </a:extLst>
                </a:gridCol>
                <a:gridCol w="1176727">
                  <a:extLst>
                    <a:ext uri="{9D8B030D-6E8A-4147-A177-3AD203B41FA5}">
                      <a16:colId xmlns="" xmlns:a16="http://schemas.microsoft.com/office/drawing/2014/main" val="1986286138"/>
                    </a:ext>
                  </a:extLst>
                </a:gridCol>
                <a:gridCol w="974361">
                  <a:extLst>
                    <a:ext uri="{9D8B030D-6E8A-4147-A177-3AD203B41FA5}">
                      <a16:colId xmlns="" xmlns:a16="http://schemas.microsoft.com/office/drawing/2014/main" val="1727547536"/>
                    </a:ext>
                  </a:extLst>
                </a:gridCol>
                <a:gridCol w="943989">
                  <a:extLst>
                    <a:ext uri="{9D8B030D-6E8A-4147-A177-3AD203B41FA5}">
                      <a16:colId xmlns="" xmlns:a16="http://schemas.microsoft.com/office/drawing/2014/main" val="4137340705"/>
                    </a:ext>
                  </a:extLst>
                </a:gridCol>
                <a:gridCol w="1047444">
                  <a:extLst>
                    <a:ext uri="{9D8B030D-6E8A-4147-A177-3AD203B41FA5}">
                      <a16:colId xmlns="" xmlns:a16="http://schemas.microsoft.com/office/drawing/2014/main" val="2454250140"/>
                    </a:ext>
                  </a:extLst>
                </a:gridCol>
                <a:gridCol w="1014096">
                  <a:extLst>
                    <a:ext uri="{9D8B030D-6E8A-4147-A177-3AD203B41FA5}">
                      <a16:colId xmlns="" xmlns:a16="http://schemas.microsoft.com/office/drawing/2014/main" val="329833396"/>
                    </a:ext>
                  </a:extLst>
                </a:gridCol>
              </a:tblGrid>
              <a:tr h="704314">
                <a:tc>
                  <a:txBody>
                    <a:bodyPr/>
                    <a:lstStyle/>
                    <a:p>
                      <a:endParaRPr lang="en-US" dirty="0"/>
                    </a:p>
                  </a:txBody>
                  <a:tcPr/>
                </a:tc>
                <a:tc>
                  <a:txBody>
                    <a:bodyPr/>
                    <a:lstStyle/>
                    <a:p>
                      <a:r>
                        <a:rPr lang="en-US" dirty="0"/>
                        <a:t>Logistic Regression</a:t>
                      </a:r>
                    </a:p>
                  </a:txBody>
                  <a:tcPr/>
                </a:tc>
                <a:tc>
                  <a:txBody>
                    <a:bodyPr/>
                    <a:lstStyle/>
                    <a:p>
                      <a:r>
                        <a:rPr lang="en-US" dirty="0"/>
                        <a:t>SVM</a:t>
                      </a:r>
                    </a:p>
                  </a:txBody>
                  <a:tcPr/>
                </a:tc>
                <a:tc>
                  <a:txBody>
                    <a:bodyPr/>
                    <a:lstStyle/>
                    <a:p>
                      <a:r>
                        <a:rPr lang="en-US" dirty="0"/>
                        <a:t>Multinomial </a:t>
                      </a:r>
                    </a:p>
                    <a:p>
                      <a:r>
                        <a:rPr lang="en-US" dirty="0"/>
                        <a:t>Naïve Bayes</a:t>
                      </a:r>
                    </a:p>
                  </a:txBody>
                  <a:tcPr/>
                </a:tc>
                <a:tc>
                  <a:txBody>
                    <a:bodyPr/>
                    <a:lstStyle/>
                    <a:p>
                      <a:r>
                        <a:rPr lang="en-US" dirty="0"/>
                        <a:t>Decision</a:t>
                      </a:r>
                    </a:p>
                    <a:p>
                      <a:r>
                        <a:rPr lang="en-US" dirty="0"/>
                        <a:t>Tree</a:t>
                      </a:r>
                    </a:p>
                  </a:txBody>
                  <a:tcPr/>
                </a:tc>
                <a:tc>
                  <a:txBody>
                    <a:bodyPr/>
                    <a:lstStyle/>
                    <a:p>
                      <a:r>
                        <a:rPr lang="en-US" dirty="0"/>
                        <a:t>Random </a:t>
                      </a:r>
                    </a:p>
                    <a:p>
                      <a:r>
                        <a:rPr lang="en-US" dirty="0"/>
                        <a:t>Forest</a:t>
                      </a:r>
                    </a:p>
                  </a:txBody>
                  <a:tcPr/>
                </a:tc>
                <a:tc>
                  <a:txBody>
                    <a:bodyPr/>
                    <a:lstStyle/>
                    <a:p>
                      <a:r>
                        <a:rPr lang="en-US" dirty="0"/>
                        <a:t>Gradient Boosting </a:t>
                      </a:r>
                    </a:p>
                  </a:txBody>
                  <a:tcPr/>
                </a:tc>
                <a:tc>
                  <a:txBody>
                    <a:bodyPr/>
                    <a:lstStyle/>
                    <a:p>
                      <a:r>
                        <a:rPr lang="en-US" dirty="0"/>
                        <a:t>Stacking </a:t>
                      </a:r>
                    </a:p>
                    <a:p>
                      <a:r>
                        <a:rPr lang="en-US" dirty="0"/>
                        <a:t>Classifier </a:t>
                      </a:r>
                    </a:p>
                  </a:txBody>
                  <a:tcPr/>
                </a:tc>
                <a:extLst>
                  <a:ext uri="{0D108BD9-81ED-4DB2-BD59-A6C34878D82A}">
                    <a16:rowId xmlns="" xmlns:a16="http://schemas.microsoft.com/office/drawing/2014/main" val="3999863412"/>
                  </a:ext>
                </a:extLst>
              </a:tr>
              <a:tr h="375147">
                <a:tc>
                  <a:txBody>
                    <a:bodyPr/>
                    <a:lstStyle/>
                    <a:p>
                      <a:r>
                        <a:rPr lang="en-US" b="1" dirty="0"/>
                        <a:t>0</a:t>
                      </a:r>
                    </a:p>
                  </a:txBody>
                  <a:tcPr/>
                </a:tc>
                <a:tc>
                  <a:txBody>
                    <a:bodyPr/>
                    <a:lstStyle/>
                    <a:p>
                      <a:r>
                        <a:rPr lang="en-US" dirty="0"/>
                        <a:t>1.00</a:t>
                      </a:r>
                    </a:p>
                  </a:txBody>
                  <a:tcPr/>
                </a:tc>
                <a:tc>
                  <a:txBody>
                    <a:bodyPr/>
                    <a:lstStyle/>
                    <a:p>
                      <a:r>
                        <a:rPr lang="en-US" dirty="0"/>
                        <a:t>1.00</a:t>
                      </a:r>
                    </a:p>
                  </a:txBody>
                  <a:tcPr/>
                </a:tc>
                <a:tc>
                  <a:txBody>
                    <a:bodyPr/>
                    <a:lstStyle/>
                    <a:p>
                      <a:r>
                        <a:rPr lang="en-US" dirty="0"/>
                        <a:t>1.00</a:t>
                      </a:r>
                    </a:p>
                  </a:txBody>
                  <a:tcPr/>
                </a:tc>
                <a:tc>
                  <a:txBody>
                    <a:bodyPr/>
                    <a:lstStyle/>
                    <a:p>
                      <a:r>
                        <a:rPr lang="en-US" dirty="0"/>
                        <a:t>1.00</a:t>
                      </a:r>
                    </a:p>
                  </a:txBody>
                  <a:tcPr/>
                </a:tc>
                <a:tc>
                  <a:txBody>
                    <a:bodyPr/>
                    <a:lstStyle/>
                    <a:p>
                      <a:r>
                        <a:rPr lang="en-US" dirty="0"/>
                        <a:t>1.00</a:t>
                      </a:r>
                    </a:p>
                  </a:txBody>
                  <a:tcPr/>
                </a:tc>
                <a:tc>
                  <a:txBody>
                    <a:bodyPr/>
                    <a:lstStyle/>
                    <a:p>
                      <a:r>
                        <a:rPr lang="en-US" dirty="0"/>
                        <a:t>1.00</a:t>
                      </a:r>
                    </a:p>
                  </a:txBody>
                  <a:tcPr/>
                </a:tc>
                <a:tc>
                  <a:txBody>
                    <a:bodyPr/>
                    <a:lstStyle/>
                    <a:p>
                      <a:r>
                        <a:rPr lang="en-US" dirty="0"/>
                        <a:t>1.00</a:t>
                      </a:r>
                    </a:p>
                  </a:txBody>
                  <a:tcPr/>
                </a:tc>
                <a:extLst>
                  <a:ext uri="{0D108BD9-81ED-4DB2-BD59-A6C34878D82A}">
                    <a16:rowId xmlns="" xmlns:a16="http://schemas.microsoft.com/office/drawing/2014/main" val="2312089981"/>
                  </a:ext>
                </a:extLst>
              </a:tr>
              <a:tr h="375147">
                <a:tc>
                  <a:txBody>
                    <a:bodyPr/>
                    <a:lstStyle/>
                    <a:p>
                      <a:r>
                        <a:rPr lang="en-US" b="1" dirty="0"/>
                        <a:t>1</a:t>
                      </a:r>
                    </a:p>
                  </a:txBody>
                  <a:tcPr/>
                </a:tc>
                <a:tc>
                  <a:txBody>
                    <a:bodyPr/>
                    <a:lstStyle/>
                    <a:p>
                      <a:r>
                        <a:rPr lang="en-US" dirty="0"/>
                        <a:t>0.64</a:t>
                      </a:r>
                    </a:p>
                  </a:txBody>
                  <a:tcPr/>
                </a:tc>
                <a:tc>
                  <a:txBody>
                    <a:bodyPr/>
                    <a:lstStyle/>
                    <a:p>
                      <a:r>
                        <a:rPr lang="en-US" dirty="0"/>
                        <a:t>0.65</a:t>
                      </a:r>
                    </a:p>
                  </a:txBody>
                  <a:tcPr/>
                </a:tc>
                <a:tc>
                  <a:txBody>
                    <a:bodyPr/>
                    <a:lstStyle/>
                    <a:p>
                      <a:r>
                        <a:rPr lang="en-US" dirty="0"/>
                        <a:t>0.65</a:t>
                      </a:r>
                    </a:p>
                  </a:txBody>
                  <a:tcPr/>
                </a:tc>
                <a:tc>
                  <a:txBody>
                    <a:bodyPr/>
                    <a:lstStyle/>
                    <a:p>
                      <a:r>
                        <a:rPr lang="en-US" dirty="0"/>
                        <a:t>0.60</a:t>
                      </a:r>
                    </a:p>
                  </a:txBody>
                  <a:tcPr/>
                </a:tc>
                <a:tc>
                  <a:txBody>
                    <a:bodyPr/>
                    <a:lstStyle/>
                    <a:p>
                      <a:r>
                        <a:rPr lang="en-US" dirty="0"/>
                        <a:t>0.64</a:t>
                      </a:r>
                    </a:p>
                  </a:txBody>
                  <a:tcPr/>
                </a:tc>
                <a:tc>
                  <a:txBody>
                    <a:bodyPr/>
                    <a:lstStyle/>
                    <a:p>
                      <a:r>
                        <a:rPr lang="en-US" dirty="0"/>
                        <a:t>0.63</a:t>
                      </a:r>
                    </a:p>
                  </a:txBody>
                  <a:tcPr/>
                </a:tc>
                <a:tc>
                  <a:txBody>
                    <a:bodyPr/>
                    <a:lstStyle/>
                    <a:p>
                      <a:r>
                        <a:rPr lang="en-US" dirty="0"/>
                        <a:t>0.62</a:t>
                      </a:r>
                    </a:p>
                  </a:txBody>
                  <a:tcPr/>
                </a:tc>
                <a:extLst>
                  <a:ext uri="{0D108BD9-81ED-4DB2-BD59-A6C34878D82A}">
                    <a16:rowId xmlns="" xmlns:a16="http://schemas.microsoft.com/office/drawing/2014/main" val="1554900201"/>
                  </a:ext>
                </a:extLst>
              </a:tr>
              <a:tr h="375147">
                <a:tc>
                  <a:txBody>
                    <a:bodyPr/>
                    <a:lstStyle/>
                    <a:p>
                      <a:r>
                        <a:rPr lang="en-US" b="1" dirty="0"/>
                        <a:t>2</a:t>
                      </a:r>
                    </a:p>
                  </a:txBody>
                  <a:tcPr/>
                </a:tc>
                <a:tc>
                  <a:txBody>
                    <a:bodyPr/>
                    <a:lstStyle/>
                    <a:p>
                      <a:r>
                        <a:rPr lang="en-US" dirty="0"/>
                        <a:t>0.22</a:t>
                      </a:r>
                    </a:p>
                  </a:txBody>
                  <a:tcPr/>
                </a:tc>
                <a:tc>
                  <a:txBody>
                    <a:bodyPr/>
                    <a:lstStyle/>
                    <a:p>
                      <a:r>
                        <a:rPr lang="en-US" dirty="0"/>
                        <a:t>0.00</a:t>
                      </a:r>
                    </a:p>
                  </a:txBody>
                  <a:tcPr/>
                </a:tc>
                <a:tc>
                  <a:txBody>
                    <a:bodyPr/>
                    <a:lstStyle/>
                    <a:p>
                      <a:r>
                        <a:rPr lang="en-US" dirty="0"/>
                        <a:t>0.12</a:t>
                      </a:r>
                    </a:p>
                  </a:txBody>
                  <a:tcPr/>
                </a:tc>
                <a:tc>
                  <a:txBody>
                    <a:bodyPr/>
                    <a:lstStyle/>
                    <a:p>
                      <a:r>
                        <a:rPr lang="en-US" dirty="0"/>
                        <a:t>0.38</a:t>
                      </a:r>
                    </a:p>
                  </a:txBody>
                  <a:tcPr/>
                </a:tc>
                <a:tc>
                  <a:txBody>
                    <a:bodyPr/>
                    <a:lstStyle/>
                    <a:p>
                      <a:r>
                        <a:rPr lang="en-US" dirty="0"/>
                        <a:t>0.18</a:t>
                      </a:r>
                    </a:p>
                  </a:txBody>
                  <a:tcPr/>
                </a:tc>
                <a:tc>
                  <a:txBody>
                    <a:bodyPr/>
                    <a:lstStyle/>
                    <a:p>
                      <a:r>
                        <a:rPr lang="en-US" dirty="0"/>
                        <a:t>0.34</a:t>
                      </a:r>
                    </a:p>
                  </a:txBody>
                  <a:tcPr/>
                </a:tc>
                <a:tc>
                  <a:txBody>
                    <a:bodyPr/>
                    <a:lstStyle/>
                    <a:p>
                      <a:r>
                        <a:rPr lang="en-US" dirty="0"/>
                        <a:t>0.31</a:t>
                      </a:r>
                    </a:p>
                  </a:txBody>
                  <a:tcPr/>
                </a:tc>
                <a:extLst>
                  <a:ext uri="{0D108BD9-81ED-4DB2-BD59-A6C34878D82A}">
                    <a16:rowId xmlns="" xmlns:a16="http://schemas.microsoft.com/office/drawing/2014/main" val="2206656851"/>
                  </a:ext>
                </a:extLst>
              </a:tr>
              <a:tr h="375147">
                <a:tc>
                  <a:txBody>
                    <a:bodyPr/>
                    <a:lstStyle/>
                    <a:p>
                      <a:r>
                        <a:rPr lang="en-US" b="1" dirty="0"/>
                        <a:t>3</a:t>
                      </a:r>
                    </a:p>
                  </a:txBody>
                  <a:tcPr/>
                </a:tc>
                <a:tc>
                  <a:txBody>
                    <a:bodyPr/>
                    <a:lstStyle/>
                    <a:p>
                      <a:r>
                        <a:rPr lang="en-US" dirty="0"/>
                        <a:t>0.00</a:t>
                      </a:r>
                    </a:p>
                  </a:txBody>
                  <a:tcPr/>
                </a:tc>
                <a:tc>
                  <a:txBody>
                    <a:bodyPr/>
                    <a:lstStyle/>
                    <a:p>
                      <a:r>
                        <a:rPr lang="en-US" dirty="0"/>
                        <a:t>0.00</a:t>
                      </a:r>
                    </a:p>
                  </a:txBody>
                  <a:tcPr/>
                </a:tc>
                <a:tc>
                  <a:txBody>
                    <a:bodyPr/>
                    <a:lstStyle/>
                    <a:p>
                      <a:r>
                        <a:rPr lang="en-US" dirty="0"/>
                        <a:t>0.06</a:t>
                      </a:r>
                    </a:p>
                  </a:txBody>
                  <a:tcPr/>
                </a:tc>
                <a:tc>
                  <a:txBody>
                    <a:bodyPr/>
                    <a:lstStyle/>
                    <a:p>
                      <a:r>
                        <a:rPr lang="en-US" dirty="0"/>
                        <a:t>0.23</a:t>
                      </a:r>
                    </a:p>
                  </a:txBody>
                  <a:tcPr/>
                </a:tc>
                <a:tc>
                  <a:txBody>
                    <a:bodyPr/>
                    <a:lstStyle/>
                    <a:p>
                      <a:r>
                        <a:rPr lang="en-US" dirty="0"/>
                        <a:t>0.02</a:t>
                      </a:r>
                    </a:p>
                  </a:txBody>
                  <a:tcPr/>
                </a:tc>
                <a:tc>
                  <a:txBody>
                    <a:bodyPr/>
                    <a:lstStyle/>
                    <a:p>
                      <a:r>
                        <a:rPr lang="en-US" dirty="0"/>
                        <a:t>0.25</a:t>
                      </a:r>
                    </a:p>
                  </a:txBody>
                  <a:tcPr/>
                </a:tc>
                <a:tc>
                  <a:txBody>
                    <a:bodyPr/>
                    <a:lstStyle/>
                    <a:p>
                      <a:r>
                        <a:rPr lang="en-US" dirty="0"/>
                        <a:t>0.26</a:t>
                      </a:r>
                    </a:p>
                  </a:txBody>
                  <a:tcPr/>
                </a:tc>
                <a:extLst>
                  <a:ext uri="{0D108BD9-81ED-4DB2-BD59-A6C34878D82A}">
                    <a16:rowId xmlns="" xmlns:a16="http://schemas.microsoft.com/office/drawing/2014/main" val="2201616839"/>
                  </a:ext>
                </a:extLst>
              </a:tr>
              <a:tr h="375147">
                <a:tc>
                  <a:txBody>
                    <a:bodyPr/>
                    <a:lstStyle/>
                    <a:p>
                      <a:r>
                        <a:rPr lang="en-US" b="1" dirty="0"/>
                        <a:t>4</a:t>
                      </a:r>
                    </a:p>
                  </a:txBody>
                  <a:tcPr/>
                </a:tc>
                <a:tc>
                  <a:txBody>
                    <a:bodyPr/>
                    <a:lstStyle/>
                    <a:p>
                      <a:r>
                        <a:rPr lang="en-US" dirty="0"/>
                        <a:t>0.00</a:t>
                      </a:r>
                    </a:p>
                  </a:txBody>
                  <a:tcPr/>
                </a:tc>
                <a:tc>
                  <a:txBody>
                    <a:bodyPr/>
                    <a:lstStyle/>
                    <a:p>
                      <a:r>
                        <a:rPr lang="en-US" dirty="0"/>
                        <a:t>0.00</a:t>
                      </a:r>
                    </a:p>
                  </a:txBody>
                  <a:tcPr/>
                </a:tc>
                <a:tc>
                  <a:txBody>
                    <a:bodyPr/>
                    <a:lstStyle/>
                    <a:p>
                      <a:r>
                        <a:rPr lang="en-US" dirty="0"/>
                        <a:t>0.00</a:t>
                      </a:r>
                    </a:p>
                  </a:txBody>
                  <a:tcPr/>
                </a:tc>
                <a:tc>
                  <a:txBody>
                    <a:bodyPr/>
                    <a:lstStyle/>
                    <a:p>
                      <a:r>
                        <a:rPr lang="en-US" dirty="0"/>
                        <a:t>0.03</a:t>
                      </a:r>
                    </a:p>
                  </a:txBody>
                  <a:tcPr/>
                </a:tc>
                <a:tc>
                  <a:txBody>
                    <a:bodyPr/>
                    <a:lstStyle/>
                    <a:p>
                      <a:r>
                        <a:rPr lang="en-US" dirty="0"/>
                        <a:t>0.00</a:t>
                      </a:r>
                    </a:p>
                  </a:txBody>
                  <a:tcPr/>
                </a:tc>
                <a:tc>
                  <a:txBody>
                    <a:bodyPr/>
                    <a:lstStyle/>
                    <a:p>
                      <a:r>
                        <a:rPr lang="en-US" dirty="0"/>
                        <a:t>0.03</a:t>
                      </a:r>
                    </a:p>
                  </a:txBody>
                  <a:tcPr/>
                </a:tc>
                <a:tc>
                  <a:txBody>
                    <a:bodyPr/>
                    <a:lstStyle/>
                    <a:p>
                      <a:r>
                        <a:rPr lang="en-US" dirty="0"/>
                        <a:t>0.00</a:t>
                      </a:r>
                    </a:p>
                  </a:txBody>
                  <a:tcPr/>
                </a:tc>
                <a:extLst>
                  <a:ext uri="{0D108BD9-81ED-4DB2-BD59-A6C34878D82A}">
                    <a16:rowId xmlns="" xmlns:a16="http://schemas.microsoft.com/office/drawing/2014/main" val="1732957819"/>
                  </a:ext>
                </a:extLst>
              </a:tr>
              <a:tr h="375147">
                <a:tc>
                  <a:txBody>
                    <a:bodyPr/>
                    <a:lstStyle/>
                    <a:p>
                      <a:r>
                        <a:rPr lang="en-US" b="1" dirty="0"/>
                        <a:t>5</a:t>
                      </a:r>
                    </a:p>
                  </a:txBody>
                  <a:tcPr/>
                </a:tc>
                <a:tc>
                  <a:txBody>
                    <a:bodyPr/>
                    <a:lstStyle/>
                    <a:p>
                      <a:r>
                        <a:rPr lang="en-US" dirty="0"/>
                        <a:t>0.00</a:t>
                      </a:r>
                    </a:p>
                  </a:txBody>
                  <a:tcPr/>
                </a:tc>
                <a:tc>
                  <a:txBody>
                    <a:bodyPr/>
                    <a:lstStyle/>
                    <a:p>
                      <a:r>
                        <a:rPr lang="en-US" dirty="0"/>
                        <a:t>0.00</a:t>
                      </a:r>
                    </a:p>
                  </a:txBody>
                  <a:tcPr/>
                </a:tc>
                <a:tc>
                  <a:txBody>
                    <a:bodyPr/>
                    <a:lstStyle/>
                    <a:p>
                      <a:r>
                        <a:rPr lang="en-US" dirty="0"/>
                        <a:t>0.00</a:t>
                      </a:r>
                    </a:p>
                  </a:txBody>
                  <a:tcPr/>
                </a:tc>
                <a:tc>
                  <a:txBody>
                    <a:bodyPr/>
                    <a:lstStyle/>
                    <a:p>
                      <a:r>
                        <a:rPr lang="en-US" dirty="0"/>
                        <a:t>0.04</a:t>
                      </a:r>
                    </a:p>
                  </a:txBody>
                  <a:tcPr/>
                </a:tc>
                <a:tc>
                  <a:txBody>
                    <a:bodyPr/>
                    <a:lstStyle/>
                    <a:p>
                      <a:r>
                        <a:rPr lang="en-US" dirty="0"/>
                        <a:t>0.00</a:t>
                      </a:r>
                    </a:p>
                  </a:txBody>
                  <a:tcPr/>
                </a:tc>
                <a:tc>
                  <a:txBody>
                    <a:bodyPr/>
                    <a:lstStyle/>
                    <a:p>
                      <a:r>
                        <a:rPr lang="en-US" dirty="0"/>
                        <a:t>0.04</a:t>
                      </a:r>
                    </a:p>
                  </a:txBody>
                  <a:tcPr/>
                </a:tc>
                <a:tc>
                  <a:txBody>
                    <a:bodyPr/>
                    <a:lstStyle/>
                    <a:p>
                      <a:r>
                        <a:rPr lang="en-US" dirty="0"/>
                        <a:t>0.04</a:t>
                      </a:r>
                    </a:p>
                  </a:txBody>
                  <a:tcPr/>
                </a:tc>
                <a:extLst>
                  <a:ext uri="{0D108BD9-81ED-4DB2-BD59-A6C34878D82A}">
                    <a16:rowId xmlns="" xmlns:a16="http://schemas.microsoft.com/office/drawing/2014/main" val="1468734423"/>
                  </a:ext>
                </a:extLst>
              </a:tr>
              <a:tr h="375147">
                <a:tc>
                  <a:txBody>
                    <a:bodyPr/>
                    <a:lstStyle/>
                    <a:p>
                      <a:r>
                        <a:rPr lang="en-US" b="1" dirty="0"/>
                        <a:t>6</a:t>
                      </a:r>
                    </a:p>
                  </a:txBody>
                  <a:tcPr/>
                </a:tc>
                <a:tc>
                  <a:txBody>
                    <a:bodyPr/>
                    <a:lstStyle/>
                    <a:p>
                      <a:r>
                        <a:rPr lang="en-US" dirty="0"/>
                        <a:t>0.00</a:t>
                      </a:r>
                    </a:p>
                  </a:txBody>
                  <a:tcPr/>
                </a:tc>
                <a:tc>
                  <a:txBody>
                    <a:bodyPr/>
                    <a:lstStyle/>
                    <a:p>
                      <a:r>
                        <a:rPr lang="en-US" dirty="0"/>
                        <a:t>0.00</a:t>
                      </a:r>
                    </a:p>
                  </a:txBody>
                  <a:tcPr/>
                </a:tc>
                <a:tc>
                  <a:txBody>
                    <a:bodyPr/>
                    <a:lstStyle/>
                    <a:p>
                      <a:r>
                        <a:rPr lang="en-US" dirty="0"/>
                        <a:t>0.03</a:t>
                      </a:r>
                    </a:p>
                  </a:txBody>
                  <a:tcPr/>
                </a:tc>
                <a:tc>
                  <a:txBody>
                    <a:bodyPr/>
                    <a:lstStyle/>
                    <a:p>
                      <a:r>
                        <a:rPr lang="en-US" dirty="0"/>
                        <a:t>0.18</a:t>
                      </a:r>
                    </a:p>
                  </a:txBody>
                  <a:tcPr/>
                </a:tc>
                <a:tc>
                  <a:txBody>
                    <a:bodyPr/>
                    <a:lstStyle/>
                    <a:p>
                      <a:r>
                        <a:rPr lang="en-US" dirty="0"/>
                        <a:t>0.00</a:t>
                      </a:r>
                    </a:p>
                  </a:txBody>
                  <a:tcPr/>
                </a:tc>
                <a:tc>
                  <a:txBody>
                    <a:bodyPr/>
                    <a:lstStyle/>
                    <a:p>
                      <a:r>
                        <a:rPr lang="en-US" dirty="0"/>
                        <a:t>0.00</a:t>
                      </a:r>
                    </a:p>
                  </a:txBody>
                  <a:tcPr/>
                </a:tc>
                <a:tc>
                  <a:txBody>
                    <a:bodyPr/>
                    <a:lstStyle/>
                    <a:p>
                      <a:r>
                        <a:rPr lang="en-US" dirty="0"/>
                        <a:t>0.00</a:t>
                      </a:r>
                    </a:p>
                  </a:txBody>
                  <a:tcPr/>
                </a:tc>
                <a:extLst>
                  <a:ext uri="{0D108BD9-81ED-4DB2-BD59-A6C34878D82A}">
                    <a16:rowId xmlns="" xmlns:a16="http://schemas.microsoft.com/office/drawing/2014/main" val="513161813"/>
                  </a:ext>
                </a:extLst>
              </a:tr>
              <a:tr h="498889">
                <a:tc>
                  <a:txBody>
                    <a:bodyPr/>
                    <a:lstStyle/>
                    <a:p>
                      <a:r>
                        <a:rPr lang="en-US" b="1" dirty="0"/>
                        <a:t>Accuracy</a:t>
                      </a:r>
                    </a:p>
                  </a:txBody>
                  <a:tcPr/>
                </a:tc>
                <a:tc>
                  <a:txBody>
                    <a:bodyPr/>
                    <a:lstStyle/>
                    <a:p>
                      <a:r>
                        <a:rPr lang="en-US" dirty="0"/>
                        <a:t>0.77</a:t>
                      </a:r>
                    </a:p>
                  </a:txBody>
                  <a:tcPr/>
                </a:tc>
                <a:tc>
                  <a:txBody>
                    <a:bodyPr/>
                    <a:lstStyle/>
                    <a:p>
                      <a:r>
                        <a:rPr lang="en-US" dirty="0"/>
                        <a:t>0.78</a:t>
                      </a:r>
                    </a:p>
                  </a:txBody>
                  <a:tcPr/>
                </a:tc>
                <a:tc>
                  <a:txBody>
                    <a:bodyPr/>
                    <a:lstStyle/>
                    <a:p>
                      <a:r>
                        <a:rPr lang="en-US" dirty="0"/>
                        <a:t>0.77</a:t>
                      </a:r>
                    </a:p>
                  </a:txBody>
                  <a:tcPr/>
                </a:tc>
                <a:tc>
                  <a:txBody>
                    <a:bodyPr/>
                    <a:lstStyle/>
                    <a:p>
                      <a:r>
                        <a:rPr lang="en-US" dirty="0"/>
                        <a:t>0.77</a:t>
                      </a:r>
                    </a:p>
                  </a:txBody>
                  <a:tcPr/>
                </a:tc>
                <a:tc>
                  <a:txBody>
                    <a:bodyPr/>
                    <a:lstStyle/>
                    <a:p>
                      <a:r>
                        <a:rPr lang="en-US" dirty="0"/>
                        <a:t>0.78</a:t>
                      </a:r>
                    </a:p>
                  </a:txBody>
                  <a:tcPr/>
                </a:tc>
                <a:tc>
                  <a:txBody>
                    <a:bodyPr/>
                    <a:lstStyle/>
                    <a:p>
                      <a:r>
                        <a:rPr lang="en-US" dirty="0"/>
                        <a:t>0.78</a:t>
                      </a:r>
                    </a:p>
                  </a:txBody>
                  <a:tcPr/>
                </a:tc>
                <a:tc>
                  <a:txBody>
                    <a:bodyPr/>
                    <a:lstStyle/>
                    <a:p>
                      <a:r>
                        <a:rPr lang="en-US" dirty="0"/>
                        <a:t>0.78</a:t>
                      </a:r>
                    </a:p>
                  </a:txBody>
                  <a:tcPr/>
                </a:tc>
                <a:extLst>
                  <a:ext uri="{0D108BD9-81ED-4DB2-BD59-A6C34878D82A}">
                    <a16:rowId xmlns="" xmlns:a16="http://schemas.microsoft.com/office/drawing/2014/main" val="2034602155"/>
                  </a:ext>
                </a:extLst>
              </a:tr>
            </a:tbl>
          </a:graphicData>
        </a:graphic>
      </p:graphicFrame>
    </p:spTree>
    <p:extLst>
      <p:ext uri="{BB962C8B-B14F-4D97-AF65-F5344CB8AC3E}">
        <p14:creationId xmlns="" xmlns:p14="http://schemas.microsoft.com/office/powerpoint/2010/main" val="3621443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903E92-0549-6CBE-F3C5-1878D78E650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 xmlns:a16="http://schemas.microsoft.com/office/drawing/2014/main" id="{D81409E8-DCAC-9A2C-5E44-C8A672C57634}"/>
              </a:ext>
            </a:extLst>
          </p:cNvPr>
          <p:cNvSpPr>
            <a:spLocks noGrp="1"/>
          </p:cNvSpPr>
          <p:nvPr>
            <p:ph type="body" idx="1"/>
          </p:nvPr>
        </p:nvSpPr>
        <p:spPr/>
        <p:txBody>
          <a:bodyPr/>
          <a:lstStyle/>
          <a:p>
            <a:endParaRPr lang="en-US" dirty="0"/>
          </a:p>
        </p:txBody>
      </p:sp>
    </p:spTree>
    <p:extLst>
      <p:ext uri="{BB962C8B-B14F-4D97-AF65-F5344CB8AC3E}">
        <p14:creationId xmlns="" xmlns:p14="http://schemas.microsoft.com/office/powerpoint/2010/main" val="3686387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Questions:</a:t>
            </a:r>
            <a:endParaRPr lang="en-US" dirty="0"/>
          </a:p>
        </p:txBody>
      </p:sp>
      <p:sp>
        <p:nvSpPr>
          <p:cNvPr id="3" name="Text Placeholder 2"/>
          <p:cNvSpPr>
            <a:spLocks noGrp="1"/>
          </p:cNvSpPr>
          <p:nvPr>
            <p:ph type="body" idx="1"/>
          </p:nvPr>
        </p:nvSpPr>
        <p:spPr/>
        <p:txBody>
          <a:bodyPr/>
          <a:lstStyle/>
          <a:p>
            <a:r>
              <a:rPr lang="en-US" sz="1400" dirty="0" smtClean="0">
                <a:solidFill>
                  <a:schemeClr val="tx1"/>
                </a:solidFill>
              </a:rPr>
              <a:t>How does engine capacity correlate with CO emissions, and can a machine learning model effectively predict this relationship</a:t>
            </a:r>
            <a:r>
              <a:rPr lang="en-US" sz="1400" dirty="0" smtClean="0">
                <a:solidFill>
                  <a:schemeClr val="tx1"/>
                </a:solidFill>
              </a:rPr>
              <a:t>?</a:t>
            </a:r>
          </a:p>
          <a:p>
            <a:endParaRPr lang="en-US" dirty="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2402732" y="1931587"/>
            <a:ext cx="3837562" cy="2723603"/>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1557" y="817123"/>
            <a:ext cx="8530743" cy="3821727"/>
          </a:xfrm>
        </p:spPr>
        <p:txBody>
          <a:bodyPr/>
          <a:lstStyle/>
          <a:p>
            <a:r>
              <a:rPr lang="en-US" sz="1400" dirty="0" smtClean="0">
                <a:solidFill>
                  <a:schemeClr val="tx1"/>
                </a:solidFill>
              </a:rPr>
              <a:t>Can the noise level of a vehicle be predicted based on engine capacity, fuel type, and </a:t>
            </a:r>
            <a:r>
              <a:rPr lang="en-US" sz="1400" dirty="0" smtClean="0">
                <a:solidFill>
                  <a:schemeClr val="tx1"/>
                </a:solidFill>
              </a:rPr>
              <a:t>transmission type?</a:t>
            </a:r>
          </a:p>
          <a:p>
            <a:endParaRPr lang="en-US" sz="1400" dirty="0" smtClean="0">
              <a:solidFill>
                <a:schemeClr val="tx1"/>
              </a:solidFill>
            </a:endParaRPr>
          </a:p>
          <a:p>
            <a:endParaRPr lang="en-US" sz="1400" dirty="0" smtClean="0">
              <a:solidFill>
                <a:schemeClr val="tx1"/>
              </a:solidFill>
            </a:endParaRPr>
          </a:p>
          <a:p>
            <a:endParaRPr lang="en-US" sz="1400" dirty="0" smtClean="0">
              <a:solidFill>
                <a:schemeClr val="tx1"/>
              </a:solidFill>
            </a:endParaRPr>
          </a:p>
          <a:p>
            <a:endParaRPr lang="en-US" sz="1400" dirty="0" smtClean="0">
              <a:solidFill>
                <a:schemeClr val="tx1"/>
              </a:solidFill>
            </a:endParaRPr>
          </a:p>
          <a:p>
            <a:endParaRPr lang="en-US" sz="1400" dirty="0" smtClean="0">
              <a:solidFill>
                <a:schemeClr val="tx1"/>
              </a:solidFill>
            </a:endParaRPr>
          </a:p>
          <a:p>
            <a:r>
              <a:rPr lang="en-US" sz="1400" dirty="0" smtClean="0">
                <a:solidFill>
                  <a:schemeClr val="tx1"/>
                </a:solidFill>
              </a:rPr>
              <a:t>D</a:t>
            </a:r>
            <a:r>
              <a:rPr lang="en-US" sz="1400" dirty="0" smtClean="0">
                <a:solidFill>
                  <a:schemeClr val="tx1"/>
                </a:solidFill>
              </a:rPr>
              <a:t>ifficult to assert that the noise level of a vehicle can be accurately predicted based solely on engine capacity, fuel type, and transmission type, at least not with the models and features used here.</a:t>
            </a:r>
          </a:p>
          <a:p>
            <a:endParaRPr lang="en-US" sz="1400" dirty="0" smtClean="0">
              <a:solidFill>
                <a:schemeClr val="tx1"/>
              </a:solidFill>
            </a:endParaRPr>
          </a:p>
          <a:p>
            <a:endParaRPr lang="en-US" sz="1400" dirty="0" smtClean="0">
              <a:solidFill>
                <a:schemeClr val="tx1"/>
              </a:solidFill>
            </a:endParaRPr>
          </a:p>
          <a:p>
            <a:endParaRPr lang="en-US" sz="1400" dirty="0" smtClean="0">
              <a:solidFill>
                <a:schemeClr val="tx1"/>
              </a:solidFill>
            </a:endParaRPr>
          </a:p>
          <a:p>
            <a:endParaRPr lang="en-US" sz="1400" dirty="0" smtClean="0">
              <a:solidFill>
                <a:schemeClr val="tx1"/>
              </a:solidFill>
            </a:endParaRPr>
          </a:p>
        </p:txBody>
      </p:sp>
      <p:pic>
        <p:nvPicPr>
          <p:cNvPr id="2050" name="Picture 2"/>
          <p:cNvPicPr>
            <a:picLocks noChangeAspect="1" noChangeArrowheads="1"/>
          </p:cNvPicPr>
          <p:nvPr/>
        </p:nvPicPr>
        <p:blipFill>
          <a:blip r:embed="rId2"/>
          <a:srcRect/>
          <a:stretch>
            <a:fillRect/>
          </a:stretch>
        </p:blipFill>
        <p:spPr bwMode="auto">
          <a:xfrm>
            <a:off x="2084151" y="1763848"/>
            <a:ext cx="4800600" cy="4095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1557" y="758757"/>
            <a:ext cx="8530743" cy="3880093"/>
          </a:xfrm>
        </p:spPr>
        <p:txBody>
          <a:bodyPr/>
          <a:lstStyle/>
          <a:p>
            <a:r>
              <a:rPr lang="en-US" sz="1400" dirty="0" smtClean="0">
                <a:solidFill>
                  <a:schemeClr val="tx1"/>
                </a:solidFill>
              </a:rPr>
              <a:t>Are certain manufacturers and models more efficient in terms of emissions (CO2, </a:t>
            </a:r>
            <a:r>
              <a:rPr lang="en-US" sz="1400" dirty="0" err="1" smtClean="0">
                <a:solidFill>
                  <a:schemeClr val="tx1"/>
                </a:solidFill>
              </a:rPr>
              <a:t>NOx</a:t>
            </a:r>
            <a:r>
              <a:rPr lang="en-US" sz="1400" dirty="0" smtClean="0">
                <a:solidFill>
                  <a:schemeClr val="tx1"/>
                </a:solidFill>
              </a:rPr>
              <a:t>), and can we predict this efficiency based on available vehicle specifications?</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924129" y="1904323"/>
            <a:ext cx="3306695" cy="2187981"/>
          </a:xfrm>
          <a:prstGeom prst="rect">
            <a:avLst/>
          </a:prstGeom>
          <a:noFill/>
          <a:ln w="9525">
            <a:noFill/>
            <a:miter lim="800000"/>
            <a:headEnd/>
            <a:tailEnd/>
          </a:ln>
        </p:spPr>
      </p:pic>
      <p:pic>
        <p:nvPicPr>
          <p:cNvPr id="3075" name="Picture 3"/>
          <p:cNvPicPr>
            <a:picLocks noChangeAspect="1" noChangeArrowheads="1"/>
          </p:cNvPicPr>
          <p:nvPr/>
        </p:nvPicPr>
        <p:blipFill>
          <a:blip r:embed="rId3"/>
          <a:srcRect/>
          <a:stretch>
            <a:fillRect/>
          </a:stretch>
        </p:blipFill>
        <p:spPr bwMode="auto">
          <a:xfrm>
            <a:off x="4847232" y="1974715"/>
            <a:ext cx="3074730" cy="2044126"/>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1557" y="797668"/>
            <a:ext cx="8530743" cy="3841182"/>
          </a:xfrm>
        </p:spPr>
        <p:txBody>
          <a:bodyPr/>
          <a:lstStyle/>
          <a:p>
            <a:r>
              <a:rPr lang="en-US" sz="1400" dirty="0" smtClean="0">
                <a:solidFill>
                  <a:schemeClr val="tx1"/>
                </a:solidFill>
              </a:rPr>
              <a:t>Can </a:t>
            </a:r>
            <a:r>
              <a:rPr lang="en-US" sz="1400" dirty="0" smtClean="0">
                <a:solidFill>
                  <a:schemeClr val="tx1"/>
                </a:solidFill>
              </a:rPr>
              <a:t>engine capacity, transmission type (manual or automatic), and fuel type be used to predict a vehicle's fuel efficiency (e.g., </a:t>
            </a:r>
            <a:r>
              <a:rPr lang="en-US" sz="1400" dirty="0" err="1" smtClean="0">
                <a:solidFill>
                  <a:schemeClr val="tx1"/>
                </a:solidFill>
              </a:rPr>
              <a:t>combined_imperial</a:t>
            </a:r>
            <a:r>
              <a:rPr lang="en-US" sz="1400" dirty="0" smtClean="0">
                <a:solidFill>
                  <a:schemeClr val="tx1"/>
                </a:solidFill>
              </a:rPr>
              <a:t> </a:t>
            </a:r>
            <a:r>
              <a:rPr lang="en-US" sz="1400" dirty="0" smtClean="0">
                <a:solidFill>
                  <a:schemeClr val="tx1"/>
                </a:solidFill>
              </a:rPr>
              <a:t>representing combined fuel efficiency)?</a:t>
            </a:r>
            <a:endParaRPr lang="en-US" sz="1400" dirty="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2366355" y="1583379"/>
            <a:ext cx="4352925" cy="361950"/>
          </a:xfrm>
          <a:prstGeom prst="rect">
            <a:avLst/>
          </a:prstGeom>
          <a:noFill/>
          <a:ln w="9525">
            <a:noFill/>
            <a:miter lim="800000"/>
            <a:headEnd/>
            <a:tailEnd/>
          </a:ln>
        </p:spPr>
      </p:pic>
      <p:pic>
        <p:nvPicPr>
          <p:cNvPr id="4099" name="Picture 3"/>
          <p:cNvPicPr>
            <a:picLocks noChangeAspect="1" noChangeArrowheads="1"/>
          </p:cNvPicPr>
          <p:nvPr/>
        </p:nvPicPr>
        <p:blipFill>
          <a:blip r:embed="rId3"/>
          <a:srcRect/>
          <a:stretch>
            <a:fillRect/>
          </a:stretch>
        </p:blipFill>
        <p:spPr bwMode="auto">
          <a:xfrm>
            <a:off x="992221" y="2324911"/>
            <a:ext cx="3418226" cy="2098743"/>
          </a:xfrm>
          <a:prstGeom prst="rect">
            <a:avLst/>
          </a:prstGeom>
          <a:noFill/>
          <a:ln w="9525">
            <a:noFill/>
            <a:miter lim="800000"/>
            <a:headEnd/>
            <a:tailEnd/>
          </a:ln>
        </p:spPr>
      </p:pic>
      <p:pic>
        <p:nvPicPr>
          <p:cNvPr id="4100" name="Picture 4"/>
          <p:cNvPicPr>
            <a:picLocks noChangeAspect="1" noChangeArrowheads="1"/>
          </p:cNvPicPr>
          <p:nvPr/>
        </p:nvPicPr>
        <p:blipFill>
          <a:blip r:embed="rId4"/>
          <a:srcRect/>
          <a:stretch>
            <a:fillRect/>
          </a:stretch>
        </p:blipFill>
        <p:spPr bwMode="auto">
          <a:xfrm>
            <a:off x="4867467" y="2363821"/>
            <a:ext cx="3145083" cy="1948876"/>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1557" y="787940"/>
            <a:ext cx="8530743" cy="3850910"/>
          </a:xfrm>
        </p:spPr>
        <p:txBody>
          <a:bodyPr/>
          <a:lstStyle/>
          <a:p>
            <a:r>
              <a:rPr lang="en-US" sz="1400" dirty="0" smtClean="0">
                <a:solidFill>
                  <a:schemeClr val="tx1"/>
                </a:solidFill>
              </a:rPr>
              <a:t>Can we use the model year to predict changes in emissions (CO2, </a:t>
            </a:r>
            <a:r>
              <a:rPr lang="en-US" sz="1400" dirty="0" err="1" smtClean="0">
                <a:solidFill>
                  <a:schemeClr val="tx1"/>
                </a:solidFill>
              </a:rPr>
              <a:t>NOx</a:t>
            </a:r>
            <a:r>
              <a:rPr lang="en-US" sz="1400" dirty="0" smtClean="0">
                <a:solidFill>
                  <a:schemeClr val="tx1"/>
                </a:solidFill>
              </a:rPr>
              <a:t>) and fuel efficiency over time for different vehicle models</a:t>
            </a:r>
            <a:r>
              <a:rPr lang="en-US" sz="1400" dirty="0" smtClean="0">
                <a:solidFill>
                  <a:schemeClr val="tx1"/>
                </a:solidFill>
              </a:rPr>
              <a:t>?</a:t>
            </a:r>
          </a:p>
          <a:p>
            <a:endParaRPr lang="en-US" sz="1400" dirty="0">
              <a:solidFill>
                <a:schemeClr val="tx1"/>
              </a:solidFill>
            </a:endParaRPr>
          </a:p>
        </p:txBody>
      </p:sp>
      <p:pic>
        <p:nvPicPr>
          <p:cNvPr id="5122" name="Picture 2"/>
          <p:cNvPicPr>
            <a:picLocks noChangeAspect="1" noChangeArrowheads="1"/>
          </p:cNvPicPr>
          <p:nvPr/>
        </p:nvPicPr>
        <p:blipFill>
          <a:blip r:embed="rId2"/>
          <a:srcRect/>
          <a:stretch>
            <a:fillRect/>
          </a:stretch>
        </p:blipFill>
        <p:spPr bwMode="auto">
          <a:xfrm>
            <a:off x="1828598" y="1430777"/>
            <a:ext cx="5467350" cy="647700"/>
          </a:xfrm>
          <a:prstGeom prst="rect">
            <a:avLst/>
          </a:prstGeom>
          <a:noFill/>
          <a:ln w="9525">
            <a:noFill/>
            <a:miter lim="800000"/>
            <a:headEnd/>
            <a:tailEnd/>
          </a:ln>
        </p:spPr>
      </p:pic>
      <p:pic>
        <p:nvPicPr>
          <p:cNvPr id="5123" name="Picture 3"/>
          <p:cNvPicPr>
            <a:picLocks noChangeAspect="1" noChangeArrowheads="1"/>
          </p:cNvPicPr>
          <p:nvPr/>
        </p:nvPicPr>
        <p:blipFill>
          <a:blip r:embed="rId3"/>
          <a:srcRect/>
          <a:stretch>
            <a:fillRect/>
          </a:stretch>
        </p:blipFill>
        <p:spPr bwMode="auto">
          <a:xfrm>
            <a:off x="533504" y="2276273"/>
            <a:ext cx="3678574" cy="2285999"/>
          </a:xfrm>
          <a:prstGeom prst="rect">
            <a:avLst/>
          </a:prstGeom>
          <a:noFill/>
          <a:ln w="9525">
            <a:noFill/>
            <a:miter lim="800000"/>
            <a:headEnd/>
            <a:tailEnd/>
          </a:ln>
        </p:spPr>
      </p:pic>
      <p:pic>
        <p:nvPicPr>
          <p:cNvPr id="5124" name="Picture 4"/>
          <p:cNvPicPr>
            <a:picLocks noChangeAspect="1" noChangeArrowheads="1"/>
          </p:cNvPicPr>
          <p:nvPr/>
        </p:nvPicPr>
        <p:blipFill>
          <a:blip r:embed="rId4"/>
          <a:srcRect/>
          <a:stretch>
            <a:fillRect/>
          </a:stretch>
        </p:blipFill>
        <p:spPr bwMode="auto">
          <a:xfrm>
            <a:off x="4489910" y="2344366"/>
            <a:ext cx="4009225" cy="2211118"/>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UMBC presentation template" id="{AB65D83E-2400-6B44-80B6-570C4D1979AE}" vid="{575BF1C9-A2EC-6C4D-85BC-EA12E69D25D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6ED8954222B1C429A59F0EC15EF7AA8" ma:contentTypeVersion="3" ma:contentTypeDescription="Create a new document." ma:contentTypeScope="" ma:versionID="0d60aa1db23f65adc289745d523415cb">
  <xsd:schema xmlns:xsd="http://www.w3.org/2001/XMLSchema" xmlns:xs="http://www.w3.org/2001/XMLSchema" xmlns:p="http://schemas.microsoft.com/office/2006/metadata/properties" xmlns:ns2="3d49952c-a256-405f-b031-e3a3291e2b23" targetNamespace="http://schemas.microsoft.com/office/2006/metadata/properties" ma:root="true" ma:fieldsID="6950b06e8532f9ac7d38c40afa82ae3a" ns2:_="">
    <xsd:import namespace="3d49952c-a256-405f-b031-e3a3291e2b23"/>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49952c-a256-405f-b031-e3a3291e2b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2477F5-ACFC-4ED1-ACC1-C27FFFF64374}">
  <ds:schemaRefs>
    <ds:schemaRef ds:uri="http://schemas.microsoft.com/sharepoint/v3/contenttype/forms"/>
  </ds:schemaRefs>
</ds:datastoreItem>
</file>

<file path=customXml/itemProps2.xml><?xml version="1.0" encoding="utf-8"?>
<ds:datastoreItem xmlns:ds="http://schemas.openxmlformats.org/officeDocument/2006/customXml" ds:itemID="{5D1E8249-7A07-46C3-8690-7972F9AAD6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49952c-a256-405f-b031-e3a3291e2b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7D5036-224F-4702-A7D6-45C6253E8B4D}">
  <ds:schemaRefs>
    <ds:schemaRef ds:uri="http://schemas.microsoft.com/office/infopath/2007/PartnerControls"/>
    <ds:schemaRef ds:uri="http://schemas.microsoft.com/office/2006/metadata/properties"/>
    <ds:schemaRef ds:uri="3d49952c-a256-405f-b031-e3a3291e2b23"/>
    <ds:schemaRef ds:uri="http://purl.org/dc/elements/1.1/"/>
    <ds:schemaRef ds:uri="http://purl.org/dc/dcmitype/"/>
    <ds:schemaRef ds:uri="http://schemas.microsoft.com/office/2006/documentManagement/types"/>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Simple Light</Template>
  <TotalTime>1124</TotalTime>
  <Words>1908</Words>
  <Application>Microsoft Office PowerPoint</Application>
  <PresentationFormat>On-screen Show (16:9)</PresentationFormat>
  <Paragraphs>283</Paragraphs>
  <Slides>42</Slides>
  <Notes>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Simple Light</vt:lpstr>
      <vt:lpstr>Predicting CO2 Emissions of Vehicles Using Real-Time Telematics Data</vt:lpstr>
      <vt:lpstr>Introduction</vt:lpstr>
      <vt:lpstr>Objectives</vt:lpstr>
      <vt:lpstr>Objectives</vt:lpstr>
      <vt:lpstr>Dataset Overview</vt:lpstr>
      <vt:lpstr>Columns Description</vt:lpstr>
      <vt:lpstr>Slide 7</vt:lpstr>
      <vt:lpstr>Slide 8</vt:lpstr>
      <vt:lpstr>Slide 9</vt:lpstr>
      <vt:lpstr>Slide 10</vt:lpstr>
      <vt:lpstr>Data Preprocessing</vt:lpstr>
      <vt:lpstr>Data Preprocessing</vt:lpstr>
      <vt:lpstr>Slide 13</vt:lpstr>
      <vt:lpstr>Target Variable and Features selection</vt:lpstr>
      <vt:lpstr>Exploratory Data Analysis</vt:lpstr>
      <vt:lpstr>Slide 16</vt:lpstr>
      <vt:lpstr>Slide 17</vt:lpstr>
      <vt:lpstr>Slide 18</vt:lpstr>
      <vt:lpstr>Slide 19</vt:lpstr>
      <vt:lpstr>Slide 20</vt:lpstr>
      <vt:lpstr>Slide 21</vt:lpstr>
      <vt:lpstr>Slide 22</vt:lpstr>
      <vt:lpstr>Slide 23</vt:lpstr>
      <vt:lpstr>Slide 24</vt:lpstr>
      <vt:lpstr>Slide 25</vt:lpstr>
      <vt:lpstr>Insights</vt:lpstr>
      <vt:lpstr>Insights</vt:lpstr>
      <vt:lpstr>Machine Learning Models </vt:lpstr>
      <vt:lpstr>Logistic Regression</vt:lpstr>
      <vt:lpstr>Support Vector Machine</vt:lpstr>
      <vt:lpstr>Multinomial Naive Bayes </vt:lpstr>
      <vt:lpstr>Decision Tree Classifier </vt:lpstr>
      <vt:lpstr>Random Forest Classifier </vt:lpstr>
      <vt:lpstr>Gradient Boosting Classifier </vt:lpstr>
      <vt:lpstr>Stacking Classifier </vt:lpstr>
      <vt:lpstr>Comparison Table</vt:lpstr>
      <vt:lpstr>Conclusion</vt:lpstr>
      <vt:lpstr>Research Questions:</vt:lpstr>
      <vt:lpstr>Slide 39</vt:lpstr>
      <vt:lpstr>Slide 40</vt:lpstr>
      <vt:lpstr>Slide 41</vt:lpstr>
      <vt:lpstr>Slide 42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Injury Severity Prediction using Crash Data report, Tempe City</dc:title>
  <dc:creator>Dixith Bandari</dc:creator>
  <cp:lastModifiedBy>dell</cp:lastModifiedBy>
  <cp:revision>16</cp:revision>
  <cp:lastPrinted>2022-12-06T17:26:06Z</cp:lastPrinted>
  <dcterms:created xsi:type="dcterms:W3CDTF">2023-12-04T20:07:42Z</dcterms:created>
  <dcterms:modified xsi:type="dcterms:W3CDTF">2023-12-11T05:21:18Z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0x01010066ED8954222B1C429A59F0EC15EF7AA8</vt:lpwstr>
  </property>
</Properties>
</file>